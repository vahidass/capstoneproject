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53" autoAdjust="0"/>
  </p:normalViewPr>
  <p:slideViewPr>
    <p:cSldViewPr snapToGrid="0">
      <p:cViewPr varScale="1">
        <p:scale>
          <a:sx n="75" d="100"/>
          <a:sy n="75" d="100"/>
        </p:scale>
        <p:origin x="303"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76326-BF13-48C2-9A24-CE4DD9346A3B}" type="datetimeFigureOut">
              <a:rPr lang="en-IN" smtClean="0"/>
              <a:t>12-07-2026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6173E2-16A8-48FA-8C81-477B94581723}" type="slidenum">
              <a:rPr lang="en-IN" smtClean="0"/>
              <a:t>‹#›</a:t>
            </a:fld>
            <a:endParaRPr lang="en-IN"/>
          </a:p>
        </p:txBody>
      </p:sp>
    </p:spTree>
    <p:extLst>
      <p:ext uri="{BB962C8B-B14F-4D97-AF65-F5344CB8AC3E}">
        <p14:creationId xmlns:p14="http://schemas.microsoft.com/office/powerpoint/2010/main" val="738193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6173E2-16A8-48FA-8C81-477B94581723}" type="slidenum">
              <a:rPr lang="en-IN" smtClean="0"/>
              <a:t>7</a:t>
            </a:fld>
            <a:endParaRPr lang="en-IN"/>
          </a:p>
        </p:txBody>
      </p:sp>
    </p:spTree>
    <p:extLst>
      <p:ext uri="{BB962C8B-B14F-4D97-AF65-F5344CB8AC3E}">
        <p14:creationId xmlns:p14="http://schemas.microsoft.com/office/powerpoint/2010/main" val="3559219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3C5991B-2E87-4673-A972-413C7EAD858A}" type="datetimeFigureOut">
              <a:rPr lang="en-IN" smtClean="0"/>
              <a:t>12-07-2026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3334203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C5991B-2E87-4673-A972-413C7EAD858A}"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1156898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3C5991B-2E87-4673-A972-413C7EAD858A}" type="datetimeFigureOut">
              <a:rPr lang="en-IN" smtClean="0"/>
              <a:t>12-07-2026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2467630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C5991B-2E87-4673-A972-413C7EAD858A}"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2854754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C5991B-2E87-4673-A972-413C7EAD858A}" type="datetimeFigureOut">
              <a:rPr lang="en-IN" smtClean="0"/>
              <a:t>12-07-2026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2708426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C5991B-2E87-4673-A972-413C7EAD858A}" type="datetimeFigureOut">
              <a:rPr lang="en-IN" smtClean="0"/>
              <a:t>12-07-2026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565800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C5991B-2E87-4673-A972-413C7EAD858A}" type="datetimeFigureOut">
              <a:rPr lang="en-IN" smtClean="0"/>
              <a:t>12-07-2026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1345962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C5991B-2E87-4673-A972-413C7EAD858A}"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4288879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C5991B-2E87-4673-A972-413C7EAD858A}"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3690975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C5991B-2E87-4673-A972-413C7EAD858A}"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2641263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C5991B-2E87-4673-A972-413C7EAD858A}" type="datetimeFigureOut">
              <a:rPr lang="en-IN" smtClean="0"/>
              <a:t>12-07-2026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17893145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C5991B-2E87-4673-A972-413C7EAD858A}" type="datetimeFigureOut">
              <a:rPr lang="en-IN" smtClean="0"/>
              <a:t>12-07-2026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0105B1F-17F7-409A-AA3A-274DB00CD8AC}"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31942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3C5991B-2E87-4673-A972-413C7EAD858A}" type="datetimeFigureOut">
              <a:rPr lang="en-IN" smtClean="0"/>
              <a:t>12-07-2026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1299854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3C5991B-2E87-4673-A972-413C7EAD858A}" type="datetimeFigureOut">
              <a:rPr lang="en-IN" smtClean="0"/>
              <a:t>12-07-2026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3338344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3C5991B-2E87-4673-A972-413C7EAD858A}" type="datetimeFigureOut">
              <a:rPr lang="en-IN" smtClean="0"/>
              <a:t>12-07-2026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3338010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C5991B-2E87-4673-A972-413C7EAD858A}"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2406522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3C5991B-2E87-4673-A972-413C7EAD858A}" type="datetimeFigureOut">
              <a:rPr lang="en-IN" smtClean="0"/>
              <a:t>12-07-2026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00105B1F-17F7-409A-AA3A-274DB00CD8AC}" type="slidenum">
              <a:rPr lang="en-IN" smtClean="0"/>
              <a:t>‹#›</a:t>
            </a:fld>
            <a:endParaRPr lang="en-IN"/>
          </a:p>
        </p:txBody>
      </p:sp>
    </p:spTree>
    <p:extLst>
      <p:ext uri="{BB962C8B-B14F-4D97-AF65-F5344CB8AC3E}">
        <p14:creationId xmlns:p14="http://schemas.microsoft.com/office/powerpoint/2010/main" val="317997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3C5991B-2E87-4673-A972-413C7EAD858A}" type="datetimeFigureOut">
              <a:rPr lang="en-IN" smtClean="0"/>
              <a:t>12-07-2026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0105B1F-17F7-409A-AA3A-274DB00CD8AC}" type="slidenum">
              <a:rPr lang="en-IN" smtClean="0"/>
              <a:t>‹#›</a:t>
            </a:fld>
            <a:endParaRPr lang="en-IN"/>
          </a:p>
        </p:txBody>
      </p:sp>
    </p:spTree>
    <p:extLst>
      <p:ext uri="{BB962C8B-B14F-4D97-AF65-F5344CB8AC3E}">
        <p14:creationId xmlns:p14="http://schemas.microsoft.com/office/powerpoint/2010/main" val="3785134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2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image" Target="../media/image28.emf"/></Relationships>
</file>

<file path=ppt/slides/_rels/slide1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rive.google.com/drive/folders/15FRK8ErVL9vvUqc0ocuAngPXZdyHZ7h2?usp=sharing" TargetMode="External"/><Relationship Id="rId2" Type="http://schemas.openxmlformats.org/officeDocument/2006/relationships/hyperlink" Target="https://github.com/VahidaSS/CapstoneProjec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6BC6A-E534-A1EF-3D63-ADEB4F2239B2}"/>
              </a:ext>
            </a:extLst>
          </p:cNvPr>
          <p:cNvSpPr>
            <a:spLocks noGrp="1"/>
          </p:cNvSpPr>
          <p:nvPr>
            <p:ph type="ctrTitle"/>
          </p:nvPr>
        </p:nvSpPr>
        <p:spPr>
          <a:xfrm>
            <a:off x="939989" y="999027"/>
            <a:ext cx="9448800" cy="750720"/>
          </a:xfrm>
        </p:spPr>
        <p:txBody>
          <a:bodyPr>
            <a:noAutofit/>
          </a:bodyPr>
          <a:lstStyle/>
          <a:p>
            <a:br>
              <a:rPr lang="en-IN" sz="3600" dirty="0"/>
            </a:br>
            <a:r>
              <a:rPr lang="en-IN" sz="3600" b="1" dirty="0"/>
              <a:t>Environmental Intelligence &amp; Sustainability Analytics Platform</a:t>
            </a:r>
          </a:p>
        </p:txBody>
      </p:sp>
      <p:sp>
        <p:nvSpPr>
          <p:cNvPr id="3" name="Subtitle 2">
            <a:extLst>
              <a:ext uri="{FF2B5EF4-FFF2-40B4-BE49-F238E27FC236}">
                <a16:creationId xmlns:a16="http://schemas.microsoft.com/office/drawing/2014/main" id="{CFA12748-5B5A-07F5-9E9B-1E99D396F43C}"/>
              </a:ext>
            </a:extLst>
          </p:cNvPr>
          <p:cNvSpPr>
            <a:spLocks noGrp="1"/>
          </p:cNvSpPr>
          <p:nvPr>
            <p:ph type="subTitle" idx="1"/>
          </p:nvPr>
        </p:nvSpPr>
        <p:spPr>
          <a:xfrm>
            <a:off x="8169606" y="2743383"/>
            <a:ext cx="3714466" cy="685800"/>
          </a:xfrm>
        </p:spPr>
        <p:txBody>
          <a:bodyPr/>
          <a:lstStyle/>
          <a:p>
            <a:r>
              <a:rPr lang="en-US" b="1" dirty="0"/>
              <a:t>Capstone Project  : Team-14</a:t>
            </a:r>
            <a:r>
              <a:rPr lang="en-US" dirty="0"/>
              <a:t> </a:t>
            </a:r>
            <a:endParaRPr lang="en-IN" dirty="0"/>
          </a:p>
        </p:txBody>
      </p:sp>
      <p:sp>
        <p:nvSpPr>
          <p:cNvPr id="4" name="TextBox 3">
            <a:extLst>
              <a:ext uri="{FF2B5EF4-FFF2-40B4-BE49-F238E27FC236}">
                <a16:creationId xmlns:a16="http://schemas.microsoft.com/office/drawing/2014/main" id="{0424AAD2-F3F0-0888-50B7-9F2597E81C42}"/>
              </a:ext>
            </a:extLst>
          </p:cNvPr>
          <p:cNvSpPr txBox="1"/>
          <p:nvPr/>
        </p:nvSpPr>
        <p:spPr>
          <a:xfrm>
            <a:off x="571500" y="2817653"/>
            <a:ext cx="10579100" cy="461665"/>
          </a:xfrm>
          <a:prstGeom prst="rect">
            <a:avLst/>
          </a:prstGeom>
          <a:noFill/>
        </p:spPr>
        <p:txBody>
          <a:bodyPr wrap="square" rtlCol="0">
            <a:spAutoFit/>
          </a:bodyPr>
          <a:lstStyle/>
          <a:p>
            <a:pPr algn="ctr"/>
            <a:r>
              <a:rPr lang="en-IN" sz="2400" b="1" u="sng" dirty="0">
                <a:latin typeface="Calibri" panose="020F0502020204030204" pitchFamily="34" charset="0"/>
                <a:ea typeface="Calibri" panose="020F0502020204030204" pitchFamily="34" charset="0"/>
                <a:cs typeface="Calibri" panose="020F0502020204030204" pitchFamily="34" charset="0"/>
              </a:rPr>
              <a:t>Team details</a:t>
            </a:r>
            <a:r>
              <a:rPr lang="en-IN" sz="2400" dirty="0"/>
              <a:t> </a:t>
            </a:r>
          </a:p>
        </p:txBody>
      </p:sp>
      <p:sp>
        <p:nvSpPr>
          <p:cNvPr id="5" name="TextBox 4">
            <a:extLst>
              <a:ext uri="{FF2B5EF4-FFF2-40B4-BE49-F238E27FC236}">
                <a16:creationId xmlns:a16="http://schemas.microsoft.com/office/drawing/2014/main" id="{378500DD-E80A-8F01-2B83-2F9B5604914A}"/>
              </a:ext>
            </a:extLst>
          </p:cNvPr>
          <p:cNvSpPr txBox="1"/>
          <p:nvPr/>
        </p:nvSpPr>
        <p:spPr>
          <a:xfrm>
            <a:off x="717550" y="3536950"/>
            <a:ext cx="10788650" cy="2031325"/>
          </a:xfrm>
          <a:prstGeom prst="rect">
            <a:avLst/>
          </a:prstGeom>
          <a:noFill/>
        </p:spPr>
        <p:txBody>
          <a:bodyPr wrap="square" rtlCol="0">
            <a:spAutoFit/>
          </a:bodyPr>
          <a:lstStyle/>
          <a:p>
            <a:r>
              <a:rPr lang="en-IN" b="1" dirty="0"/>
              <a:t>Vahida Shaik – g25ai1072        Sanaullah Shaik – g25ai0170            Satish G – g25AI1071 </a:t>
            </a:r>
          </a:p>
          <a:p>
            <a:endParaRPr lang="en-IN" b="1" dirty="0"/>
          </a:p>
          <a:p>
            <a:endParaRPr lang="en-IN" b="1" dirty="0"/>
          </a:p>
          <a:p>
            <a:r>
              <a:rPr lang="en-IN" b="1" dirty="0"/>
              <a:t>Vijibenita Ravi Nadar -              Rohit Paliwal – g25ai1069                 Manish Kumar – g25ai1068</a:t>
            </a:r>
          </a:p>
          <a:p>
            <a:r>
              <a:rPr lang="en-IN" b="1" dirty="0"/>
              <a:t>g25ai1067</a:t>
            </a:r>
          </a:p>
          <a:p>
            <a:endParaRPr lang="en-IN" b="1" dirty="0"/>
          </a:p>
          <a:p>
            <a:endParaRPr lang="en-IN" b="1" dirty="0"/>
          </a:p>
        </p:txBody>
      </p:sp>
    </p:spTree>
    <p:extLst>
      <p:ext uri="{BB962C8B-B14F-4D97-AF65-F5344CB8AC3E}">
        <p14:creationId xmlns:p14="http://schemas.microsoft.com/office/powerpoint/2010/main" val="3073418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5AC63-1123-4B96-BEDD-51F60E5F6642}"/>
              </a:ext>
            </a:extLst>
          </p:cNvPr>
          <p:cNvSpPr>
            <a:spLocks noGrp="1"/>
          </p:cNvSpPr>
          <p:nvPr>
            <p:ph type="title"/>
          </p:nvPr>
        </p:nvSpPr>
        <p:spPr>
          <a:xfrm>
            <a:off x="5782101" y="311818"/>
            <a:ext cx="5069006" cy="654994"/>
          </a:xfrm>
        </p:spPr>
        <p:txBody>
          <a:bodyPr>
            <a:normAutofit/>
          </a:bodyPr>
          <a:lstStyle/>
          <a:p>
            <a:r>
              <a:rPr lang="en-IN" sz="2400" b="1" u="sng" dirty="0"/>
              <a:t>About Project </a:t>
            </a:r>
          </a:p>
        </p:txBody>
      </p:sp>
      <p:graphicFrame>
        <p:nvGraphicFramePr>
          <p:cNvPr id="5" name="Table 4">
            <a:extLst>
              <a:ext uri="{FF2B5EF4-FFF2-40B4-BE49-F238E27FC236}">
                <a16:creationId xmlns:a16="http://schemas.microsoft.com/office/drawing/2014/main" id="{0F5C8A46-6B6D-B7D3-F464-F6F33DA47FE1}"/>
              </a:ext>
            </a:extLst>
          </p:cNvPr>
          <p:cNvGraphicFramePr>
            <a:graphicFrameLocks noGrp="1"/>
          </p:cNvGraphicFramePr>
          <p:nvPr>
            <p:extLst>
              <p:ext uri="{D42A27DB-BD31-4B8C-83A1-F6EECF244321}">
                <p14:modId xmlns:p14="http://schemas.microsoft.com/office/powerpoint/2010/main" val="1158601435"/>
              </p:ext>
            </p:extLst>
          </p:nvPr>
        </p:nvGraphicFramePr>
        <p:xfrm>
          <a:off x="668740" y="1528548"/>
          <a:ext cx="3550694" cy="427176"/>
        </p:xfrm>
        <a:graphic>
          <a:graphicData uri="http://schemas.openxmlformats.org/drawingml/2006/table">
            <a:tbl>
              <a:tblPr/>
              <a:tblGrid>
                <a:gridCol w="3550694">
                  <a:extLst>
                    <a:ext uri="{9D8B030D-6E8A-4147-A177-3AD203B41FA5}">
                      <a16:colId xmlns:a16="http://schemas.microsoft.com/office/drawing/2014/main" val="135861639"/>
                    </a:ext>
                  </a:extLst>
                </a:gridCol>
              </a:tblGrid>
              <a:tr h="427176">
                <a:tc>
                  <a:txBody>
                    <a:bodyPr/>
                    <a:lstStyle/>
                    <a:p>
                      <a:pPr algn="ctr"/>
                      <a:r>
                        <a:rPr lang="en-IN" b="1" dirty="0"/>
                        <a:t>Executive summary</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9" name="Table 8">
            <a:extLst>
              <a:ext uri="{FF2B5EF4-FFF2-40B4-BE49-F238E27FC236}">
                <a16:creationId xmlns:a16="http://schemas.microsoft.com/office/drawing/2014/main" id="{E472E783-F289-9995-70FB-BDC24F2B8307}"/>
              </a:ext>
            </a:extLst>
          </p:cNvPr>
          <p:cNvGraphicFramePr>
            <a:graphicFrameLocks noGrp="1"/>
          </p:cNvGraphicFramePr>
          <p:nvPr>
            <p:extLst>
              <p:ext uri="{D42A27DB-BD31-4B8C-83A1-F6EECF244321}">
                <p14:modId xmlns:p14="http://schemas.microsoft.com/office/powerpoint/2010/main" val="1298479898"/>
              </p:ext>
            </p:extLst>
          </p:nvPr>
        </p:nvGraphicFramePr>
        <p:xfrm>
          <a:off x="668739" y="1955723"/>
          <a:ext cx="3567751" cy="3585267"/>
        </p:xfrm>
        <a:graphic>
          <a:graphicData uri="http://schemas.openxmlformats.org/drawingml/2006/table">
            <a:tbl>
              <a:tblPr/>
              <a:tblGrid>
                <a:gridCol w="3567751">
                  <a:extLst>
                    <a:ext uri="{9D8B030D-6E8A-4147-A177-3AD203B41FA5}">
                      <a16:colId xmlns:a16="http://schemas.microsoft.com/office/drawing/2014/main" val="135861639"/>
                    </a:ext>
                  </a:extLst>
                </a:gridCol>
              </a:tblGrid>
              <a:tr h="35852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This project focuses on analyzing global temperature trends and air quality data to understand environmental changes and potential correlations.</a:t>
                      </a:r>
                      <a:endParaRPr lang="en-IN"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1" name="Table 10">
            <a:extLst>
              <a:ext uri="{FF2B5EF4-FFF2-40B4-BE49-F238E27FC236}">
                <a16:creationId xmlns:a16="http://schemas.microsoft.com/office/drawing/2014/main" id="{09133243-27C8-5BC7-7A50-3C6B92F75C84}"/>
              </a:ext>
            </a:extLst>
          </p:cNvPr>
          <p:cNvGraphicFramePr>
            <a:graphicFrameLocks noGrp="1"/>
          </p:cNvGraphicFramePr>
          <p:nvPr>
            <p:extLst>
              <p:ext uri="{D42A27DB-BD31-4B8C-83A1-F6EECF244321}">
                <p14:modId xmlns:p14="http://schemas.microsoft.com/office/powerpoint/2010/main" val="2457605130"/>
              </p:ext>
            </p:extLst>
          </p:nvPr>
        </p:nvGraphicFramePr>
        <p:xfrm>
          <a:off x="4236492" y="1528547"/>
          <a:ext cx="3458568" cy="427173"/>
        </p:xfrm>
        <a:graphic>
          <a:graphicData uri="http://schemas.openxmlformats.org/drawingml/2006/table">
            <a:tbl>
              <a:tblPr/>
              <a:tblGrid>
                <a:gridCol w="3458568">
                  <a:extLst>
                    <a:ext uri="{9D8B030D-6E8A-4147-A177-3AD203B41FA5}">
                      <a16:colId xmlns:a16="http://schemas.microsoft.com/office/drawing/2014/main" val="135861639"/>
                    </a:ext>
                  </a:extLst>
                </a:gridCol>
              </a:tblGrid>
              <a:tr h="427173">
                <a:tc>
                  <a:txBody>
                    <a:bodyPr/>
                    <a:lstStyle/>
                    <a:p>
                      <a:pPr algn="ctr"/>
                      <a:r>
                        <a:rPr lang="en-IN" dirty="0"/>
                        <a:t>🌍 Problem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3" name="Table 12">
            <a:extLst>
              <a:ext uri="{FF2B5EF4-FFF2-40B4-BE49-F238E27FC236}">
                <a16:creationId xmlns:a16="http://schemas.microsoft.com/office/drawing/2014/main" id="{80191112-502F-A115-5948-36E2C7DDB827}"/>
              </a:ext>
            </a:extLst>
          </p:cNvPr>
          <p:cNvGraphicFramePr>
            <a:graphicFrameLocks noGrp="1"/>
          </p:cNvGraphicFramePr>
          <p:nvPr>
            <p:extLst>
              <p:ext uri="{D42A27DB-BD31-4B8C-83A1-F6EECF244321}">
                <p14:modId xmlns:p14="http://schemas.microsoft.com/office/powerpoint/2010/main" val="3134991379"/>
              </p:ext>
            </p:extLst>
          </p:nvPr>
        </p:nvGraphicFramePr>
        <p:xfrm>
          <a:off x="7695060" y="1528548"/>
          <a:ext cx="3550693" cy="427172"/>
        </p:xfrm>
        <a:graphic>
          <a:graphicData uri="http://schemas.openxmlformats.org/drawingml/2006/table">
            <a:tbl>
              <a:tblPr/>
              <a:tblGrid>
                <a:gridCol w="3550693">
                  <a:extLst>
                    <a:ext uri="{9D8B030D-6E8A-4147-A177-3AD203B41FA5}">
                      <a16:colId xmlns:a16="http://schemas.microsoft.com/office/drawing/2014/main" val="135861639"/>
                    </a:ext>
                  </a:extLst>
                </a:gridCol>
              </a:tblGrid>
              <a:tr h="427172">
                <a:tc>
                  <a:txBody>
                    <a:bodyPr/>
                    <a:lstStyle/>
                    <a:p>
                      <a:pPr algn="ctr"/>
                      <a:r>
                        <a:rPr lang="en-IN" dirty="0"/>
                        <a:t>📊 Datasets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5" name="Table 14">
            <a:extLst>
              <a:ext uri="{FF2B5EF4-FFF2-40B4-BE49-F238E27FC236}">
                <a16:creationId xmlns:a16="http://schemas.microsoft.com/office/drawing/2014/main" id="{6B27BD7F-5CA5-55FD-0F9E-19C867382A96}"/>
              </a:ext>
            </a:extLst>
          </p:cNvPr>
          <p:cNvGraphicFramePr>
            <a:graphicFrameLocks noGrp="1"/>
          </p:cNvGraphicFramePr>
          <p:nvPr>
            <p:extLst>
              <p:ext uri="{D42A27DB-BD31-4B8C-83A1-F6EECF244321}">
                <p14:modId xmlns:p14="http://schemas.microsoft.com/office/powerpoint/2010/main" val="3241816698"/>
              </p:ext>
            </p:extLst>
          </p:nvPr>
        </p:nvGraphicFramePr>
        <p:xfrm>
          <a:off x="4236491" y="1955722"/>
          <a:ext cx="3458569" cy="3585267"/>
        </p:xfrm>
        <a:graphic>
          <a:graphicData uri="http://schemas.openxmlformats.org/drawingml/2006/table">
            <a:tbl>
              <a:tblPr/>
              <a:tblGrid>
                <a:gridCol w="3458569">
                  <a:extLst>
                    <a:ext uri="{9D8B030D-6E8A-4147-A177-3AD203B41FA5}">
                      <a16:colId xmlns:a16="http://schemas.microsoft.com/office/drawing/2014/main" val="135861639"/>
                    </a:ext>
                  </a:extLst>
                </a:gridCol>
              </a:tblGrid>
              <a:tr h="35852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To analyze environmental datasets including temperature, air quality and geospatial data to identify trends and patterns related to climate change.</a:t>
                      </a:r>
                      <a:endParaRPr lang="en-IN"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endParaRPr lang="en-IN" sz="2000" dirty="0">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7" name="Table 16">
            <a:extLst>
              <a:ext uri="{FF2B5EF4-FFF2-40B4-BE49-F238E27FC236}">
                <a16:creationId xmlns:a16="http://schemas.microsoft.com/office/drawing/2014/main" id="{38B3C7CF-B382-4A78-60F2-01D82E7AAEA4}"/>
              </a:ext>
            </a:extLst>
          </p:cNvPr>
          <p:cNvGraphicFramePr>
            <a:graphicFrameLocks noGrp="1"/>
          </p:cNvGraphicFramePr>
          <p:nvPr>
            <p:extLst>
              <p:ext uri="{D42A27DB-BD31-4B8C-83A1-F6EECF244321}">
                <p14:modId xmlns:p14="http://schemas.microsoft.com/office/powerpoint/2010/main" val="840983032"/>
              </p:ext>
            </p:extLst>
          </p:nvPr>
        </p:nvGraphicFramePr>
        <p:xfrm>
          <a:off x="7695061" y="1955722"/>
          <a:ext cx="3550694" cy="3585267"/>
        </p:xfrm>
        <a:graphic>
          <a:graphicData uri="http://schemas.openxmlformats.org/drawingml/2006/table">
            <a:tbl>
              <a:tblPr/>
              <a:tblGrid>
                <a:gridCol w="3550694">
                  <a:extLst>
                    <a:ext uri="{9D8B030D-6E8A-4147-A177-3AD203B41FA5}">
                      <a16:colId xmlns:a16="http://schemas.microsoft.com/office/drawing/2014/main" val="135861639"/>
                    </a:ext>
                  </a:extLst>
                </a:gridCol>
              </a:tblGrid>
              <a:tr h="3585267">
                <a:tc>
                  <a:txBody>
                    <a:bodyPr/>
                    <a:lstStyle/>
                    <a:p>
                      <a:endPar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r>
                        <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Temperature Dataset (NASA GISTEMP)</a:t>
                      </a:r>
                    </a:p>
                    <a:p>
                      <a:endPar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r>
                        <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Air Quality Dataset (India AQI Dataset)</a:t>
                      </a:r>
                    </a:p>
                    <a:p>
                      <a:endPar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r>
                        <a:rPr lang="en-US"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Geospatial Dataset (UN Environmental Data)</a:t>
                      </a:r>
                    </a:p>
                    <a:p>
                      <a:endParaRPr lang="en-IN" sz="2000" dirty="0">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spTree>
    <p:extLst>
      <p:ext uri="{BB962C8B-B14F-4D97-AF65-F5344CB8AC3E}">
        <p14:creationId xmlns:p14="http://schemas.microsoft.com/office/powerpoint/2010/main" val="90347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08AA8-99C5-91C2-9552-4917960C1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22738-E9CF-3B21-8C10-8DA8073D450C}"/>
              </a:ext>
            </a:extLst>
          </p:cNvPr>
          <p:cNvSpPr>
            <a:spLocks noGrp="1"/>
          </p:cNvSpPr>
          <p:nvPr>
            <p:ph type="title"/>
          </p:nvPr>
        </p:nvSpPr>
        <p:spPr>
          <a:xfrm>
            <a:off x="5782101" y="311818"/>
            <a:ext cx="5069006" cy="654994"/>
          </a:xfrm>
        </p:spPr>
        <p:txBody>
          <a:bodyPr>
            <a:normAutofit/>
          </a:bodyPr>
          <a:lstStyle/>
          <a:p>
            <a:r>
              <a:rPr lang="en-IN" sz="2400" b="1" u="sng" dirty="0"/>
              <a:t> </a:t>
            </a:r>
          </a:p>
        </p:txBody>
      </p:sp>
      <p:sp>
        <p:nvSpPr>
          <p:cNvPr id="6" name="TextBox 5">
            <a:extLst>
              <a:ext uri="{FF2B5EF4-FFF2-40B4-BE49-F238E27FC236}">
                <a16:creationId xmlns:a16="http://schemas.microsoft.com/office/drawing/2014/main" id="{FDD4B478-8D9F-9F7F-E1B8-1AA7786D8683}"/>
              </a:ext>
            </a:extLst>
          </p:cNvPr>
          <p:cNvSpPr txBox="1"/>
          <p:nvPr/>
        </p:nvSpPr>
        <p:spPr>
          <a:xfrm>
            <a:off x="120555" y="1635471"/>
            <a:ext cx="5611503" cy="3477875"/>
          </a:xfrm>
          <a:prstGeom prst="rect">
            <a:avLst/>
          </a:prstGeom>
          <a:noFill/>
        </p:spPr>
        <p:txBody>
          <a:bodyPr wrap="square" rtlCol="0">
            <a:spAutoFit/>
          </a:bodyPr>
          <a:lstStyle/>
          <a:p>
            <a:pPr marL="285750" indent="-28575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Identified and selected relevant public datasets</a:t>
            </a:r>
          </a:p>
          <a:p>
            <a:pPr marL="285750" indent="-285750">
              <a:buFontTx/>
              <a:buChar char="-"/>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285750" indent="-28575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Documented dataset structure and attributes</a:t>
            </a:r>
          </a:p>
          <a:p>
            <a:pPr marL="285750" indent="-285750">
              <a:buFontTx/>
              <a:buChar char="-"/>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285750" indent="-28575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Loaded datasets into Python environment</a:t>
            </a:r>
          </a:p>
          <a:p>
            <a:pPr marL="285750" indent="-285750">
              <a:buFontTx/>
              <a:buChar char="-"/>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285750" indent="-28575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Performed initial exploratory data analysis (EDA)</a:t>
            </a:r>
          </a:p>
          <a:p>
            <a:pPr marL="285750" indent="-285750">
              <a:buFontTx/>
              <a:buChar char="-"/>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Tx/>
              <a:buChar char="-"/>
            </a:pPr>
            <a:r>
              <a:rPr lang="en-US" sz="2000" dirty="0">
                <a:latin typeface="Calibri" panose="020F0502020204030204" pitchFamily="34" charset="0"/>
                <a:ea typeface="Calibri" panose="020F0502020204030204" pitchFamily="34" charset="0"/>
                <a:cs typeface="Calibri" panose="020F0502020204030204" pitchFamily="34" charset="0"/>
              </a:rPr>
              <a:t>A structured data inventory was created </a:t>
            </a:r>
          </a:p>
          <a:p>
            <a:r>
              <a:rPr lang="en-US" sz="2000" dirty="0">
                <a:latin typeface="Calibri" panose="020F0502020204030204" pitchFamily="34" charset="0"/>
                <a:ea typeface="Calibri" panose="020F0502020204030204" pitchFamily="34" charset="0"/>
                <a:cs typeface="Calibri" panose="020F0502020204030204" pitchFamily="34" charset="0"/>
              </a:rPr>
              <a:t>      documenting dataset sources, formats,      	attributes, and temporal coverage.</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888096A-DDE3-B8D7-0A0B-3598866FDBC7}"/>
              </a:ext>
            </a:extLst>
          </p:cNvPr>
          <p:cNvSpPr txBox="1"/>
          <p:nvPr/>
        </p:nvSpPr>
        <p:spPr>
          <a:xfrm>
            <a:off x="5950427" y="1783813"/>
            <a:ext cx="6066428" cy="3416320"/>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  Generated visualizations:</a:t>
            </a:r>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Temperature trend over time</a:t>
            </a:r>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Air pollution trend across cities</a:t>
            </a:r>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Environmental indicators from geospatial dataset</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Analyzed dataset characteristics:</a:t>
            </a:r>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Missing values</a:t>
            </a:r>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Data types</a:t>
            </a:r>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Time coverage</a:t>
            </a:r>
            <a:endParaRPr lang="en-IN" sz="2000" dirty="0">
              <a:latin typeface="Calibri" panose="020F0502020204030204" pitchFamily="34" charset="0"/>
              <a:ea typeface="Calibri" panose="020F0502020204030204" pitchFamily="34" charset="0"/>
              <a:cs typeface="Calibri" panose="020F0502020204030204" pitchFamily="34" charset="0"/>
            </a:endParaRPr>
          </a:p>
          <a:p>
            <a:endParaRPr lang="en-IN" dirty="0"/>
          </a:p>
          <a:p>
            <a:endParaRPr lang="en-IN" dirty="0"/>
          </a:p>
        </p:txBody>
      </p:sp>
      <p:cxnSp>
        <p:nvCxnSpPr>
          <p:cNvPr id="9" name="Straight Connector 8">
            <a:extLst>
              <a:ext uri="{FF2B5EF4-FFF2-40B4-BE49-F238E27FC236}">
                <a16:creationId xmlns:a16="http://schemas.microsoft.com/office/drawing/2014/main" id="{64ADE698-4CFB-3385-11EF-BDDFD9EA41B0}"/>
              </a:ext>
            </a:extLst>
          </p:cNvPr>
          <p:cNvCxnSpPr>
            <a:cxnSpLocks/>
          </p:cNvCxnSpPr>
          <p:nvPr/>
        </p:nvCxnSpPr>
        <p:spPr>
          <a:xfrm>
            <a:off x="5841242" y="1461868"/>
            <a:ext cx="0" cy="40602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F6958AB8-0EE6-79F0-A6B9-5C1C873D6BE4}"/>
              </a:ext>
            </a:extLst>
          </p:cNvPr>
          <p:cNvSpPr txBox="1">
            <a:spLocks/>
          </p:cNvSpPr>
          <p:nvPr/>
        </p:nvSpPr>
        <p:spPr>
          <a:xfrm>
            <a:off x="6014113" y="282690"/>
            <a:ext cx="5069006" cy="654994"/>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en-IN" sz="2400" b="1"/>
              <a:t>Week-1</a:t>
            </a:r>
            <a:r>
              <a:rPr lang="en-IN" sz="2400" b="1" u="sng"/>
              <a:t> </a:t>
            </a:r>
            <a:endParaRPr lang="en-IN" sz="2400" b="1" u="sng" dirty="0"/>
          </a:p>
        </p:txBody>
      </p:sp>
    </p:spTree>
    <p:extLst>
      <p:ext uri="{BB962C8B-B14F-4D97-AF65-F5344CB8AC3E}">
        <p14:creationId xmlns:p14="http://schemas.microsoft.com/office/powerpoint/2010/main" val="965418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90689-B254-89A0-36D3-1D6D334E351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03CD392-B16A-C81C-305B-F96618738564}"/>
              </a:ext>
            </a:extLst>
          </p:cNvPr>
          <p:cNvPicPr>
            <a:picLocks noChangeAspect="1"/>
          </p:cNvPicPr>
          <p:nvPr/>
        </p:nvPicPr>
        <p:blipFill>
          <a:blip r:embed="rId2"/>
          <a:stretch>
            <a:fillRect/>
          </a:stretch>
        </p:blipFill>
        <p:spPr>
          <a:xfrm>
            <a:off x="152399" y="95102"/>
            <a:ext cx="5486400" cy="3185160"/>
          </a:xfrm>
          <a:prstGeom prst="rect">
            <a:avLst/>
          </a:prstGeom>
          <a:ln w="19050">
            <a:solidFill>
              <a:schemeClr val="tx1"/>
            </a:solidFill>
          </a:ln>
        </p:spPr>
      </p:pic>
      <p:pic>
        <p:nvPicPr>
          <p:cNvPr id="4" name="Picture 3">
            <a:extLst>
              <a:ext uri="{FF2B5EF4-FFF2-40B4-BE49-F238E27FC236}">
                <a16:creationId xmlns:a16="http://schemas.microsoft.com/office/drawing/2014/main" id="{46B4833D-BA85-2F37-6EA2-7091601ECCED}"/>
              </a:ext>
            </a:extLst>
          </p:cNvPr>
          <p:cNvPicPr>
            <a:picLocks noChangeAspect="1"/>
          </p:cNvPicPr>
          <p:nvPr/>
        </p:nvPicPr>
        <p:blipFill>
          <a:blip r:embed="rId3"/>
          <a:srcRect b="8186"/>
          <a:stretch>
            <a:fillRect/>
          </a:stretch>
        </p:blipFill>
        <p:spPr>
          <a:xfrm>
            <a:off x="6014113" y="1687682"/>
            <a:ext cx="5486400" cy="3628145"/>
          </a:xfrm>
          <a:prstGeom prst="rect">
            <a:avLst/>
          </a:prstGeom>
          <a:ln w="19050">
            <a:solidFill>
              <a:schemeClr val="tx1"/>
            </a:solidFill>
          </a:ln>
        </p:spPr>
      </p:pic>
      <p:pic>
        <p:nvPicPr>
          <p:cNvPr id="6" name="Picture 5">
            <a:extLst>
              <a:ext uri="{FF2B5EF4-FFF2-40B4-BE49-F238E27FC236}">
                <a16:creationId xmlns:a16="http://schemas.microsoft.com/office/drawing/2014/main" id="{3149FF67-2AC8-C088-72E7-1B46CC2500CD}"/>
              </a:ext>
            </a:extLst>
          </p:cNvPr>
          <p:cNvPicPr>
            <a:picLocks noChangeAspect="1"/>
          </p:cNvPicPr>
          <p:nvPr/>
        </p:nvPicPr>
        <p:blipFill>
          <a:blip r:embed="rId4"/>
          <a:srcRect b="7069"/>
          <a:stretch>
            <a:fillRect/>
          </a:stretch>
        </p:blipFill>
        <p:spPr>
          <a:xfrm>
            <a:off x="152399" y="3666864"/>
            <a:ext cx="5486400" cy="3026680"/>
          </a:xfrm>
          <a:prstGeom prst="rect">
            <a:avLst/>
          </a:prstGeom>
          <a:ln w="19050">
            <a:solidFill>
              <a:schemeClr val="tx1"/>
            </a:solidFill>
          </a:ln>
        </p:spPr>
      </p:pic>
      <p:sp>
        <p:nvSpPr>
          <p:cNvPr id="9" name="TextBox 8">
            <a:extLst>
              <a:ext uri="{FF2B5EF4-FFF2-40B4-BE49-F238E27FC236}">
                <a16:creationId xmlns:a16="http://schemas.microsoft.com/office/drawing/2014/main" id="{7F20AE92-EE10-F8F4-BC46-D392932A71AB}"/>
              </a:ext>
            </a:extLst>
          </p:cNvPr>
          <p:cNvSpPr txBox="1"/>
          <p:nvPr/>
        </p:nvSpPr>
        <p:spPr>
          <a:xfrm>
            <a:off x="2149522" y="4147750"/>
            <a:ext cx="4590198" cy="307777"/>
          </a:xfrm>
          <a:prstGeom prst="rect">
            <a:avLst/>
          </a:prstGeom>
          <a:noFill/>
        </p:spPr>
        <p:txBody>
          <a:bodyPr wrap="square" rtlCol="0">
            <a:spAutoFit/>
          </a:bodyPr>
          <a:lstStyle/>
          <a:p>
            <a:r>
              <a:rPr lang="en-US" sz="1400" b="1" dirty="0"/>
              <a:t>- Air quality (PM2.5 / AQI) visualization</a:t>
            </a:r>
            <a:endParaRPr lang="en-IN" sz="1400" b="1" dirty="0"/>
          </a:p>
        </p:txBody>
      </p:sp>
      <p:sp>
        <p:nvSpPr>
          <p:cNvPr id="10" name="TextBox 9">
            <a:extLst>
              <a:ext uri="{FF2B5EF4-FFF2-40B4-BE49-F238E27FC236}">
                <a16:creationId xmlns:a16="http://schemas.microsoft.com/office/drawing/2014/main" id="{60EA7363-A1FF-086E-A1BB-E4ED0B0ECFD5}"/>
              </a:ext>
            </a:extLst>
          </p:cNvPr>
          <p:cNvSpPr txBox="1"/>
          <p:nvPr/>
        </p:nvSpPr>
        <p:spPr>
          <a:xfrm>
            <a:off x="8595815" y="2354238"/>
            <a:ext cx="3596185" cy="307777"/>
          </a:xfrm>
          <a:prstGeom prst="rect">
            <a:avLst/>
          </a:prstGeom>
          <a:noFill/>
        </p:spPr>
        <p:txBody>
          <a:bodyPr wrap="square" rtlCol="0">
            <a:spAutoFit/>
          </a:bodyPr>
          <a:lstStyle/>
          <a:p>
            <a:r>
              <a:rPr lang="en-US" sz="1400" b="1" dirty="0"/>
              <a:t>- Geospatial bar chart analysis</a:t>
            </a:r>
            <a:endParaRPr lang="en-IN" sz="1400" b="1" dirty="0"/>
          </a:p>
        </p:txBody>
      </p:sp>
      <p:sp>
        <p:nvSpPr>
          <p:cNvPr id="12" name="TextBox 11">
            <a:extLst>
              <a:ext uri="{FF2B5EF4-FFF2-40B4-BE49-F238E27FC236}">
                <a16:creationId xmlns:a16="http://schemas.microsoft.com/office/drawing/2014/main" id="{E0BBCC11-C1D3-C673-F9BC-6919483ACBE2}"/>
              </a:ext>
            </a:extLst>
          </p:cNvPr>
          <p:cNvSpPr txBox="1"/>
          <p:nvPr/>
        </p:nvSpPr>
        <p:spPr>
          <a:xfrm>
            <a:off x="2957015" y="652733"/>
            <a:ext cx="2975212" cy="584775"/>
          </a:xfrm>
          <a:prstGeom prst="rect">
            <a:avLst/>
          </a:prstGeom>
          <a:noFill/>
        </p:spPr>
        <p:txBody>
          <a:bodyPr wrap="square" rtlCol="0">
            <a:spAutoFit/>
          </a:bodyPr>
          <a:lstStyle/>
          <a:p>
            <a:r>
              <a:rPr lang="en-US" sz="1400" b="1" dirty="0"/>
              <a:t> Temperature trend graph</a:t>
            </a:r>
            <a:endParaRPr lang="en-IN" sz="1400" b="1" dirty="0"/>
          </a:p>
          <a:p>
            <a:endParaRPr lang="en-IN" dirty="0"/>
          </a:p>
        </p:txBody>
      </p:sp>
      <p:sp>
        <p:nvSpPr>
          <p:cNvPr id="13" name="Title 1">
            <a:extLst>
              <a:ext uri="{FF2B5EF4-FFF2-40B4-BE49-F238E27FC236}">
                <a16:creationId xmlns:a16="http://schemas.microsoft.com/office/drawing/2014/main" id="{B7E28E92-F6F2-9809-E98E-3F3C96107206}"/>
              </a:ext>
            </a:extLst>
          </p:cNvPr>
          <p:cNvSpPr>
            <a:spLocks noGrp="1"/>
          </p:cNvSpPr>
          <p:nvPr>
            <p:ph type="title"/>
          </p:nvPr>
        </p:nvSpPr>
        <p:spPr>
          <a:xfrm>
            <a:off x="6014113" y="282690"/>
            <a:ext cx="5069006" cy="654994"/>
          </a:xfrm>
        </p:spPr>
        <p:txBody>
          <a:bodyPr>
            <a:normAutofit/>
          </a:bodyPr>
          <a:lstStyle/>
          <a:p>
            <a:r>
              <a:rPr lang="en-IN" sz="2400" b="1" dirty="0"/>
              <a:t>Week-1</a:t>
            </a:r>
            <a:r>
              <a:rPr lang="en-IN" sz="2400" b="1" u="sng" dirty="0"/>
              <a:t> </a:t>
            </a:r>
          </a:p>
        </p:txBody>
      </p:sp>
    </p:spTree>
    <p:extLst>
      <p:ext uri="{BB962C8B-B14F-4D97-AF65-F5344CB8AC3E}">
        <p14:creationId xmlns:p14="http://schemas.microsoft.com/office/powerpoint/2010/main" val="2788768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5FD9D-ECE5-106B-B21C-7D35A4880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493BA-2D9B-B96B-396F-A2C12AEFE5E0}"/>
              </a:ext>
            </a:extLst>
          </p:cNvPr>
          <p:cNvSpPr>
            <a:spLocks noGrp="1"/>
          </p:cNvSpPr>
          <p:nvPr>
            <p:ph type="title"/>
          </p:nvPr>
        </p:nvSpPr>
        <p:spPr>
          <a:xfrm>
            <a:off x="5386316" y="134397"/>
            <a:ext cx="5069006" cy="654994"/>
          </a:xfrm>
        </p:spPr>
        <p:txBody>
          <a:bodyPr>
            <a:normAutofit/>
          </a:bodyPr>
          <a:lstStyle/>
          <a:p>
            <a:r>
              <a:rPr lang="en-IN" sz="2400" b="1" dirty="0"/>
              <a:t>Week-2</a:t>
            </a:r>
            <a:endParaRPr lang="en-IN" sz="2400" b="1" u="sng" dirty="0"/>
          </a:p>
        </p:txBody>
      </p:sp>
      <p:graphicFrame>
        <p:nvGraphicFramePr>
          <p:cNvPr id="6" name="Table 5">
            <a:extLst>
              <a:ext uri="{FF2B5EF4-FFF2-40B4-BE49-F238E27FC236}">
                <a16:creationId xmlns:a16="http://schemas.microsoft.com/office/drawing/2014/main" id="{36829546-7B55-AB6C-ADDB-EDB5F42F7C6C}"/>
              </a:ext>
            </a:extLst>
          </p:cNvPr>
          <p:cNvGraphicFramePr>
            <a:graphicFrameLocks noGrp="1"/>
          </p:cNvGraphicFramePr>
          <p:nvPr>
            <p:extLst>
              <p:ext uri="{D42A27DB-BD31-4B8C-83A1-F6EECF244321}">
                <p14:modId xmlns:p14="http://schemas.microsoft.com/office/powerpoint/2010/main" val="689082828"/>
              </p:ext>
            </p:extLst>
          </p:nvPr>
        </p:nvGraphicFramePr>
        <p:xfrm>
          <a:off x="685795" y="792120"/>
          <a:ext cx="3550694" cy="427176"/>
        </p:xfrm>
        <a:graphic>
          <a:graphicData uri="http://schemas.openxmlformats.org/drawingml/2006/table">
            <a:tbl>
              <a:tblPr/>
              <a:tblGrid>
                <a:gridCol w="3550694">
                  <a:extLst>
                    <a:ext uri="{9D8B030D-6E8A-4147-A177-3AD203B41FA5}">
                      <a16:colId xmlns:a16="http://schemas.microsoft.com/office/drawing/2014/main" val="135861639"/>
                    </a:ext>
                  </a:extLst>
                </a:gridCol>
              </a:tblGrid>
              <a:tr h="427176">
                <a:tc>
                  <a:txBody>
                    <a:bodyPr/>
                    <a:lstStyle/>
                    <a:p>
                      <a:pPr algn="ctr"/>
                      <a:r>
                        <a:rPr lang="en-IN" b="1" dirty="0"/>
                        <a:t>Project objective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8" name="Table 7">
            <a:extLst>
              <a:ext uri="{FF2B5EF4-FFF2-40B4-BE49-F238E27FC236}">
                <a16:creationId xmlns:a16="http://schemas.microsoft.com/office/drawing/2014/main" id="{AAFC6FAA-3D4E-BA98-168D-EFAD516551F3}"/>
              </a:ext>
            </a:extLst>
          </p:cNvPr>
          <p:cNvGraphicFramePr>
            <a:graphicFrameLocks noGrp="1"/>
          </p:cNvGraphicFramePr>
          <p:nvPr>
            <p:extLst>
              <p:ext uri="{D42A27DB-BD31-4B8C-83A1-F6EECF244321}">
                <p14:modId xmlns:p14="http://schemas.microsoft.com/office/powerpoint/2010/main" val="3326839998"/>
              </p:ext>
            </p:extLst>
          </p:nvPr>
        </p:nvGraphicFramePr>
        <p:xfrm>
          <a:off x="685795" y="1227122"/>
          <a:ext cx="3567751" cy="5419338"/>
        </p:xfrm>
        <a:graphic>
          <a:graphicData uri="http://schemas.openxmlformats.org/drawingml/2006/table">
            <a:tbl>
              <a:tblPr/>
              <a:tblGrid>
                <a:gridCol w="3567751">
                  <a:extLst>
                    <a:ext uri="{9D8B030D-6E8A-4147-A177-3AD203B41FA5}">
                      <a16:colId xmlns:a16="http://schemas.microsoft.com/office/drawing/2014/main" val="135861639"/>
                    </a:ext>
                  </a:extLst>
                </a:gridCol>
              </a:tblGrid>
              <a:tr h="5419338">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US"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US"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In Week 2, the focus was on cleaning, transforming, and preparing environmental datasets for integration and analysis. The datasets included temperature data (NASA), air quality data (India AQI), and geospatial environmental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US"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objective was to convert raw and unstructured datasets into a consistent and analysis-ready format, enabling integration across multiple data sources.</a:t>
                      </a:r>
                      <a:endPar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IN" sz="1700" dirty="0">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0" name="Table 9">
            <a:extLst>
              <a:ext uri="{FF2B5EF4-FFF2-40B4-BE49-F238E27FC236}">
                <a16:creationId xmlns:a16="http://schemas.microsoft.com/office/drawing/2014/main" id="{E903582F-2EDB-DADE-795F-A1B940B22401}"/>
              </a:ext>
            </a:extLst>
          </p:cNvPr>
          <p:cNvGraphicFramePr>
            <a:graphicFrameLocks noGrp="1"/>
          </p:cNvGraphicFramePr>
          <p:nvPr>
            <p:extLst>
              <p:ext uri="{D42A27DB-BD31-4B8C-83A1-F6EECF244321}">
                <p14:modId xmlns:p14="http://schemas.microsoft.com/office/powerpoint/2010/main" val="3763585776"/>
              </p:ext>
            </p:extLst>
          </p:nvPr>
        </p:nvGraphicFramePr>
        <p:xfrm>
          <a:off x="4236489" y="792123"/>
          <a:ext cx="7596120" cy="427173"/>
        </p:xfrm>
        <a:graphic>
          <a:graphicData uri="http://schemas.openxmlformats.org/drawingml/2006/table">
            <a:tbl>
              <a:tblPr/>
              <a:tblGrid>
                <a:gridCol w="7596120">
                  <a:extLst>
                    <a:ext uri="{9D8B030D-6E8A-4147-A177-3AD203B41FA5}">
                      <a16:colId xmlns:a16="http://schemas.microsoft.com/office/drawing/2014/main" val="135861639"/>
                    </a:ext>
                  </a:extLst>
                </a:gridCol>
              </a:tblGrid>
              <a:tr h="427173">
                <a:tc>
                  <a:txBody>
                    <a:bodyPr/>
                    <a:lstStyle/>
                    <a:p>
                      <a:pPr algn="ctr"/>
                      <a:r>
                        <a:rPr lang="en-IN" b="1" dirty="0"/>
                        <a:t>What accomplished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2" name="Table 11">
            <a:extLst>
              <a:ext uri="{FF2B5EF4-FFF2-40B4-BE49-F238E27FC236}">
                <a16:creationId xmlns:a16="http://schemas.microsoft.com/office/drawing/2014/main" id="{BF1216C0-41FB-658E-7343-D1D0EF99058B}"/>
              </a:ext>
            </a:extLst>
          </p:cNvPr>
          <p:cNvGraphicFramePr>
            <a:graphicFrameLocks noGrp="1"/>
          </p:cNvGraphicFramePr>
          <p:nvPr>
            <p:extLst>
              <p:ext uri="{D42A27DB-BD31-4B8C-83A1-F6EECF244321}">
                <p14:modId xmlns:p14="http://schemas.microsoft.com/office/powerpoint/2010/main" val="2572857242"/>
              </p:ext>
            </p:extLst>
          </p:nvPr>
        </p:nvGraphicFramePr>
        <p:xfrm>
          <a:off x="4253546" y="1244861"/>
          <a:ext cx="3567750" cy="5401599"/>
        </p:xfrm>
        <a:graphic>
          <a:graphicData uri="http://schemas.openxmlformats.org/drawingml/2006/table">
            <a:tbl>
              <a:tblPr/>
              <a:tblGrid>
                <a:gridCol w="3567750">
                  <a:extLst>
                    <a:ext uri="{9D8B030D-6E8A-4147-A177-3AD203B41FA5}">
                      <a16:colId xmlns:a16="http://schemas.microsoft.com/office/drawing/2014/main" val="135861639"/>
                    </a:ext>
                  </a:extLst>
                </a:gridCol>
              </a:tblGrid>
              <a:tr h="5401599">
                <a:tc>
                  <a:txBody>
                    <a:bodyPr/>
                    <a:lstStyle/>
                    <a:p>
                      <a:pPr marL="0" lvl="0" indent="0">
                        <a:buFont typeface="Wingdings" panose="05000000000000000000" pitchFamily="2" charset="2"/>
                        <a:buNone/>
                      </a:pPr>
                      <a:endPar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Cleaned datasets and handled missing values using appropriate techniques.</a:t>
                      </a:r>
                    </a:p>
                    <a:p>
                      <a:pPr marL="0" lvl="0" indent="0">
                        <a:buFont typeface="Wingdings" panose="05000000000000000000" pitchFamily="2" charset="2"/>
                        <a:buNone/>
                      </a:pPr>
                      <a:endPar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Converted date formats and extracted </a:t>
                      </a:r>
                      <a:r>
                        <a:rPr lang="en-IN" sz="1700" b="1"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Year and Month</a:t>
                      </a:r>
                      <a:r>
                        <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features from time-series data.</a:t>
                      </a:r>
                    </a:p>
                    <a:p>
                      <a:pPr marL="285750" lvl="0" indent="-285750">
                        <a:buFont typeface="Wingdings" panose="05000000000000000000" pitchFamily="2" charset="2"/>
                        <a:buChar char="Ø"/>
                      </a:pPr>
                      <a:endPar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Aggregated air quality data from daily observations into </a:t>
                      </a:r>
                      <a:r>
                        <a:rPr lang="en-IN" sz="1700" b="1"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monthly and yearly summaries.</a:t>
                      </a:r>
                    </a:p>
                    <a:p>
                      <a:pPr marL="285750" lvl="0" indent="-285750">
                        <a:buFont typeface="Wingdings" panose="05000000000000000000" pitchFamily="2" charset="2"/>
                        <a:buChar char="Ø"/>
                      </a:pPr>
                      <a:endPar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Filtered and processed geospatial data focusing on </a:t>
                      </a:r>
                      <a:r>
                        <a:rPr lang="en-IN" sz="1700" b="1"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forest cover indicators.</a:t>
                      </a:r>
                    </a:p>
                    <a:p>
                      <a:pPr marL="285750" lvl="0" indent="-285750">
                        <a:buFont typeface="Wingdings" panose="05000000000000000000" pitchFamily="2" charset="2"/>
                        <a:buChar char="Ø"/>
                      </a:pPr>
                      <a:endPar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Applied </a:t>
                      </a:r>
                      <a:r>
                        <a:rPr lang="en-IN" sz="1700" b="1"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moving average techniques</a:t>
                      </a:r>
                      <a:r>
                        <a:rPr lang="en-IN" sz="17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to smooth trends in temperature and geospatial data.</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6" name="Table 15">
            <a:extLst>
              <a:ext uri="{FF2B5EF4-FFF2-40B4-BE49-F238E27FC236}">
                <a16:creationId xmlns:a16="http://schemas.microsoft.com/office/drawing/2014/main" id="{126BC97B-3E1D-C45C-6D3E-CBE600FC3353}"/>
              </a:ext>
            </a:extLst>
          </p:cNvPr>
          <p:cNvGraphicFramePr>
            <a:graphicFrameLocks noGrp="1"/>
          </p:cNvGraphicFramePr>
          <p:nvPr>
            <p:extLst>
              <p:ext uri="{D42A27DB-BD31-4B8C-83A1-F6EECF244321}">
                <p14:modId xmlns:p14="http://schemas.microsoft.com/office/powerpoint/2010/main" val="1878810401"/>
              </p:ext>
            </p:extLst>
          </p:nvPr>
        </p:nvGraphicFramePr>
        <p:xfrm>
          <a:off x="7821296" y="1237035"/>
          <a:ext cx="4011313" cy="5401598"/>
        </p:xfrm>
        <a:graphic>
          <a:graphicData uri="http://schemas.openxmlformats.org/drawingml/2006/table">
            <a:tbl>
              <a:tblPr/>
              <a:tblGrid>
                <a:gridCol w="4011313">
                  <a:extLst>
                    <a:ext uri="{9D8B030D-6E8A-4147-A177-3AD203B41FA5}">
                      <a16:colId xmlns:a16="http://schemas.microsoft.com/office/drawing/2014/main" val="135861639"/>
                    </a:ext>
                  </a:extLst>
                </a:gridCol>
              </a:tblGrid>
              <a:tr h="5401598">
                <a:tc>
                  <a:txBody>
                    <a:bodyPr/>
                    <a:lstStyle/>
                    <a:p>
                      <a:pPr marL="285750" lvl="0" indent="-285750">
                        <a:buFont typeface="Wingdings" panose="05000000000000000000" pitchFamily="2" charset="2"/>
                        <a:buChar char="Ø"/>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Standardized formats across datasets to ensure compatibility.</a:t>
                      </a:r>
                    </a:p>
                    <a:p>
                      <a:pPr marL="285750" lvl="0" indent="-285750">
                        <a:buFont typeface="Wingdings" panose="05000000000000000000" pitchFamily="2" charset="2"/>
                        <a:buChar char="Ø"/>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Aligned datasets from different sources based on common time periods.</a:t>
                      </a:r>
                    </a:p>
                    <a:p>
                      <a:pPr marL="285750" lvl="0" indent="-285750">
                        <a:buFont typeface="Wingdings" panose="05000000000000000000" pitchFamily="2" charset="2"/>
                        <a:buChar char="Ø"/>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Merged processed datasets into a unified environmental dataset.</a:t>
                      </a:r>
                    </a:p>
                    <a:p>
                      <a:pPr marL="285750" lvl="0" indent="-285750">
                        <a:buFont typeface="Wingdings" panose="05000000000000000000" pitchFamily="2" charset="2"/>
                        <a:buChar char="Ø"/>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Performed preliminary trend analysis and correlation analysis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Generated visualizations including:</a:t>
                      </a:r>
                    </a:p>
                    <a:p>
                      <a:pPr lvl="0"/>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Temperature trends.</a:t>
                      </a:r>
                    </a:p>
                    <a:p>
                      <a:pPr lvl="0"/>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AQI trends</a:t>
                      </a:r>
                    </a:p>
                    <a:p>
                      <a:pPr lvl="0"/>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PM2.5 trends</a:t>
                      </a:r>
                      <a:endParaRPr lang="en-IN" sz="1800" dirty="0">
                        <a:latin typeface="Calibri" panose="020F0502020204030204" pitchFamily="34" charset="0"/>
                        <a:ea typeface="Calibri" panose="020F0502020204030204" pitchFamily="34" charset="0"/>
                        <a:cs typeface="Calibri" panose="020F0502020204030204" pitchFamily="34" charset="0"/>
                      </a:endParaRP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spTree>
    <p:extLst>
      <p:ext uri="{BB962C8B-B14F-4D97-AF65-F5344CB8AC3E}">
        <p14:creationId xmlns:p14="http://schemas.microsoft.com/office/powerpoint/2010/main" val="1599831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9E156-0202-B9DB-260F-561EB0EB0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122D2-C3BA-D85D-2B73-57C3EEB201AE}"/>
              </a:ext>
            </a:extLst>
          </p:cNvPr>
          <p:cNvSpPr>
            <a:spLocks noGrp="1"/>
          </p:cNvSpPr>
          <p:nvPr>
            <p:ph type="title"/>
          </p:nvPr>
        </p:nvSpPr>
        <p:spPr>
          <a:xfrm>
            <a:off x="1359092" y="270599"/>
            <a:ext cx="5069006" cy="654994"/>
          </a:xfrm>
        </p:spPr>
        <p:txBody>
          <a:bodyPr>
            <a:normAutofit/>
          </a:bodyPr>
          <a:lstStyle/>
          <a:p>
            <a:r>
              <a:rPr lang="en-IN" sz="2400" b="1" dirty="0"/>
              <a:t>Week-2</a:t>
            </a:r>
            <a:r>
              <a:rPr lang="en-IN" sz="2400" b="1" u="sng" dirty="0"/>
              <a:t> </a:t>
            </a:r>
          </a:p>
        </p:txBody>
      </p:sp>
      <p:sp>
        <p:nvSpPr>
          <p:cNvPr id="6" name="TextBox 5">
            <a:extLst>
              <a:ext uri="{FF2B5EF4-FFF2-40B4-BE49-F238E27FC236}">
                <a16:creationId xmlns:a16="http://schemas.microsoft.com/office/drawing/2014/main" id="{7A298616-91FD-00EC-8D39-F806EBB66528}"/>
              </a:ext>
            </a:extLst>
          </p:cNvPr>
          <p:cNvSpPr txBox="1"/>
          <p:nvPr/>
        </p:nvSpPr>
        <p:spPr>
          <a:xfrm>
            <a:off x="116006" y="447569"/>
            <a:ext cx="5611503" cy="6586418"/>
          </a:xfrm>
          <a:prstGeom prst="rect">
            <a:avLst/>
          </a:prstGeom>
          <a:noFill/>
        </p:spPr>
        <p:txBody>
          <a:bodyPr wrap="square" rtlCol="0">
            <a:spAutoFit/>
          </a:bodyPr>
          <a:lstStyle/>
          <a:p>
            <a:r>
              <a:rPr lang="en-US" sz="2400" b="1" u="sng">
                <a:latin typeface="Calibri" panose="020F0502020204030204" pitchFamily="34" charset="0"/>
                <a:ea typeface="Calibri" panose="020F0502020204030204" pitchFamily="34" charset="0"/>
                <a:cs typeface="Calibri" panose="020F0502020204030204" pitchFamily="34" charset="0"/>
              </a:rPr>
              <a:t>Challenges Faced</a:t>
            </a:r>
            <a:endParaRPr lang="en-US" sz="2400" b="1" u="sng" dirty="0">
              <a:latin typeface="Calibri" panose="020F0502020204030204" pitchFamily="34" charset="0"/>
              <a:ea typeface="Calibri" panose="020F0502020204030204" pitchFamily="34" charset="0"/>
              <a:cs typeface="Calibri" panose="020F0502020204030204" pitchFamily="34" charset="0"/>
            </a:endParaRPr>
          </a:p>
          <a:p>
            <a:endParaRPr lang="en-US" b="1" dirty="0"/>
          </a:p>
          <a:p>
            <a:pPr marL="285750" lvl="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Handling missing and inconsistent values in the air quality dataset.</a:t>
            </a:r>
          </a:p>
          <a:p>
            <a:pPr marL="285750" lvl="0" indent="-285750">
              <a:buFont typeface="Wingdings" panose="05000000000000000000" pitchFamily="2" charset="2"/>
              <a:buChar char="Ø"/>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Cleaning and restructuring the NASA temperature dataset, which contained metadata rows and non-numeric values.</a:t>
            </a:r>
          </a:p>
          <a:p>
            <a:pPr marL="285750" lvl="0" indent="-285750">
              <a:buFont typeface="Wingdings" panose="05000000000000000000" pitchFamily="2" charset="2"/>
              <a:buChar char="Ø"/>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Aligning datasets with different temporal granularities (daily, monthly, and yearly).</a:t>
            </a:r>
          </a:p>
          <a:p>
            <a:pPr marL="285750" lvl="0" indent="-285750">
              <a:buFont typeface="Wingdings" panose="05000000000000000000" pitchFamily="2" charset="2"/>
              <a:buChar char="Ø"/>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Identifying common years across datasets for meaningful integration.</a:t>
            </a:r>
          </a:p>
          <a:p>
            <a:pPr marL="285750" lvl="0" indent="-285750">
              <a:buFont typeface="Wingdings" panose="05000000000000000000" pitchFamily="2" charset="2"/>
              <a:buChar char="Ø"/>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Managing data consistency and avoiding duplication during merging.</a:t>
            </a:r>
          </a:p>
          <a:p>
            <a:pPr marL="285750" lvl="0" indent="-285750">
              <a:buFont typeface="Wingdings" panose="05000000000000000000" pitchFamily="2" charset="2"/>
              <a:buChar char="Ø"/>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Limited overlapping time period across datasets, which restricted combined analysis.</a:t>
            </a:r>
          </a:p>
          <a:p>
            <a:endParaRPr lang="en-US" b="1" dirty="0"/>
          </a:p>
          <a:p>
            <a:endParaRPr lang="en-IN" b="1" dirty="0"/>
          </a:p>
          <a:p>
            <a:pPr marL="285750" indent="-285750">
              <a:buFontTx/>
              <a:buChar char="-"/>
            </a:pP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cxnSp>
        <p:nvCxnSpPr>
          <p:cNvPr id="9" name="Straight Connector 8">
            <a:extLst>
              <a:ext uri="{FF2B5EF4-FFF2-40B4-BE49-F238E27FC236}">
                <a16:creationId xmlns:a16="http://schemas.microsoft.com/office/drawing/2014/main" id="{115D418D-C947-5E00-111F-FE60EB74CFCE}"/>
              </a:ext>
            </a:extLst>
          </p:cNvPr>
          <p:cNvCxnSpPr>
            <a:cxnSpLocks/>
          </p:cNvCxnSpPr>
          <p:nvPr/>
        </p:nvCxnSpPr>
        <p:spPr>
          <a:xfrm>
            <a:off x="5763903" y="894155"/>
            <a:ext cx="0" cy="56932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69B479E-1934-178C-B1C2-494EAD1CA889}"/>
              </a:ext>
            </a:extLst>
          </p:cNvPr>
          <p:cNvSpPr txBox="1"/>
          <p:nvPr/>
        </p:nvSpPr>
        <p:spPr>
          <a:xfrm>
            <a:off x="9387386" y="524823"/>
            <a:ext cx="2688608" cy="369332"/>
          </a:xfrm>
          <a:prstGeom prst="rect">
            <a:avLst/>
          </a:prstGeom>
          <a:noFill/>
        </p:spPr>
        <p:txBody>
          <a:bodyPr wrap="square" rtlCol="0">
            <a:spAutoFit/>
          </a:bodyPr>
          <a:lstStyle/>
          <a:p>
            <a:r>
              <a:rPr lang="en-US" b="1" u="sng" dirty="0"/>
              <a:t>Results/Visual Outputs</a:t>
            </a:r>
            <a:endParaRPr lang="en-IN" b="1" u="sng" dirty="0"/>
          </a:p>
        </p:txBody>
      </p:sp>
      <p:pic>
        <p:nvPicPr>
          <p:cNvPr id="5" name="Picture 4" descr="The image shows a bar chart depicting the count of missing values for different air quality features in a dataset.&#10;&#10;AI-generated content may be incorrect.">
            <a:extLst>
              <a:ext uri="{FF2B5EF4-FFF2-40B4-BE49-F238E27FC236}">
                <a16:creationId xmlns:a16="http://schemas.microsoft.com/office/drawing/2014/main" id="{85D8A86A-2E47-8A97-B57A-62E9E7770F37}"/>
              </a:ext>
            </a:extLst>
          </p:cNvPr>
          <p:cNvPicPr>
            <a:picLocks noChangeAspect="1"/>
          </p:cNvPicPr>
          <p:nvPr/>
        </p:nvPicPr>
        <p:blipFill>
          <a:blip r:embed="rId2"/>
          <a:stretch>
            <a:fillRect/>
          </a:stretch>
        </p:blipFill>
        <p:spPr>
          <a:xfrm>
            <a:off x="6143767" y="1863090"/>
            <a:ext cx="5486400" cy="3131820"/>
          </a:xfrm>
          <a:prstGeom prst="rect">
            <a:avLst/>
          </a:prstGeom>
        </p:spPr>
      </p:pic>
      <p:sp>
        <p:nvSpPr>
          <p:cNvPr id="8" name="TextBox 7">
            <a:extLst>
              <a:ext uri="{FF2B5EF4-FFF2-40B4-BE49-F238E27FC236}">
                <a16:creationId xmlns:a16="http://schemas.microsoft.com/office/drawing/2014/main" id="{64676910-874A-4AE1-5AB6-576A9858AB5B}"/>
              </a:ext>
            </a:extLst>
          </p:cNvPr>
          <p:cNvSpPr txBox="1"/>
          <p:nvPr/>
        </p:nvSpPr>
        <p:spPr>
          <a:xfrm>
            <a:off x="6096000" y="1330656"/>
            <a:ext cx="3587087" cy="369332"/>
          </a:xfrm>
          <a:prstGeom prst="rect">
            <a:avLst/>
          </a:prstGeom>
          <a:noFill/>
        </p:spPr>
        <p:txBody>
          <a:bodyPr wrap="square" rtlCol="0">
            <a:spAutoFit/>
          </a:bodyPr>
          <a:lstStyle/>
          <a:p>
            <a:r>
              <a:rPr lang="en-US" b="1" i="1" dirty="0"/>
              <a:t>- Missing Value Analysis</a:t>
            </a:r>
            <a:endParaRPr lang="en-IN" dirty="0"/>
          </a:p>
        </p:txBody>
      </p:sp>
    </p:spTree>
    <p:extLst>
      <p:ext uri="{BB962C8B-B14F-4D97-AF65-F5344CB8AC3E}">
        <p14:creationId xmlns:p14="http://schemas.microsoft.com/office/powerpoint/2010/main" val="1786425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C13BB-D11D-5445-5E10-81A2A1F30432}"/>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194E59B1-894C-A955-9DD2-598ECBF9CF23}"/>
              </a:ext>
            </a:extLst>
          </p:cNvPr>
          <p:cNvSpPr>
            <a:spLocks noGrp="1"/>
          </p:cNvSpPr>
          <p:nvPr>
            <p:ph type="title"/>
          </p:nvPr>
        </p:nvSpPr>
        <p:spPr>
          <a:xfrm>
            <a:off x="6020937" y="84147"/>
            <a:ext cx="5069006" cy="654994"/>
          </a:xfrm>
        </p:spPr>
        <p:txBody>
          <a:bodyPr>
            <a:normAutofit/>
          </a:bodyPr>
          <a:lstStyle/>
          <a:p>
            <a:r>
              <a:rPr lang="en-IN" sz="2400" b="1" dirty="0"/>
              <a:t>Week-2</a:t>
            </a:r>
            <a:r>
              <a:rPr lang="en-IN" sz="2400" b="1" u="sng" dirty="0"/>
              <a:t> </a:t>
            </a:r>
          </a:p>
        </p:txBody>
      </p:sp>
      <p:sp>
        <p:nvSpPr>
          <p:cNvPr id="2" name="TextBox 1">
            <a:extLst>
              <a:ext uri="{FF2B5EF4-FFF2-40B4-BE49-F238E27FC236}">
                <a16:creationId xmlns:a16="http://schemas.microsoft.com/office/drawing/2014/main" id="{53EE821C-9278-BFCA-7EC0-04877864980B}"/>
              </a:ext>
            </a:extLst>
          </p:cNvPr>
          <p:cNvSpPr txBox="1"/>
          <p:nvPr/>
        </p:nvSpPr>
        <p:spPr>
          <a:xfrm>
            <a:off x="513498" y="186479"/>
            <a:ext cx="4703928" cy="646331"/>
          </a:xfrm>
          <a:prstGeom prst="rect">
            <a:avLst/>
          </a:prstGeom>
          <a:noFill/>
        </p:spPr>
        <p:txBody>
          <a:bodyPr wrap="square" rtlCol="0">
            <a:spAutoFit/>
          </a:bodyPr>
          <a:lstStyle/>
          <a:p>
            <a:r>
              <a:rPr lang="en-US" b="1" i="1" dirty="0"/>
              <a:t>Cleaned NASA Temperature Dataset</a:t>
            </a:r>
            <a:endParaRPr lang="en-IN" dirty="0"/>
          </a:p>
          <a:p>
            <a:endParaRPr lang="en-IN" dirty="0"/>
          </a:p>
        </p:txBody>
      </p:sp>
      <p:pic>
        <p:nvPicPr>
          <p:cNvPr id="5" name="Picture 4" descr="The image depicts a code interface, likely within a Jupyter Notebook or similar development environment, showing a series of steps and outputs related to data cleaning and processing, specifically focusing on temperature anomaly data.&#10;&#10;AI-generated content may be incorrect.">
            <a:extLst>
              <a:ext uri="{FF2B5EF4-FFF2-40B4-BE49-F238E27FC236}">
                <a16:creationId xmlns:a16="http://schemas.microsoft.com/office/drawing/2014/main" id="{BBBE6AA7-FE31-4A48-1812-D3D8E25A9ABC}"/>
              </a:ext>
            </a:extLst>
          </p:cNvPr>
          <p:cNvPicPr>
            <a:picLocks noChangeAspect="1"/>
          </p:cNvPicPr>
          <p:nvPr/>
        </p:nvPicPr>
        <p:blipFill>
          <a:blip r:embed="rId3"/>
          <a:stretch>
            <a:fillRect/>
          </a:stretch>
        </p:blipFill>
        <p:spPr>
          <a:xfrm>
            <a:off x="240543" y="705022"/>
            <a:ext cx="5069006" cy="2810834"/>
          </a:xfrm>
          <a:prstGeom prst="rect">
            <a:avLst/>
          </a:prstGeom>
          <a:ln w="28575">
            <a:solidFill>
              <a:schemeClr val="tx1"/>
            </a:solidFill>
          </a:ln>
        </p:spPr>
      </p:pic>
      <p:pic>
        <p:nvPicPr>
          <p:cNvPr id="7" name="Picture 6" descr="The image appears to be a screen capture from a Jupyter Notebook interface, displaying a workflow of data processing steps for a project. It shows a series of file selections, code execution, and data manipulation tasks, including loading a dataset, handling missing values, filtering outliers, and performing aggregation functions to summarize the data.&#10;&#10;AI-generated content may be incorrect.">
            <a:extLst>
              <a:ext uri="{FF2B5EF4-FFF2-40B4-BE49-F238E27FC236}">
                <a16:creationId xmlns:a16="http://schemas.microsoft.com/office/drawing/2014/main" id="{A39DE8A2-D311-2BC9-2EEB-E65BF1018AA8}"/>
              </a:ext>
            </a:extLst>
          </p:cNvPr>
          <p:cNvPicPr>
            <a:picLocks noChangeAspect="1"/>
          </p:cNvPicPr>
          <p:nvPr/>
        </p:nvPicPr>
        <p:blipFill>
          <a:blip r:embed="rId4"/>
          <a:stretch>
            <a:fillRect/>
          </a:stretch>
        </p:blipFill>
        <p:spPr>
          <a:xfrm>
            <a:off x="5582504" y="653113"/>
            <a:ext cx="5265744" cy="2810834"/>
          </a:xfrm>
          <a:prstGeom prst="rect">
            <a:avLst/>
          </a:prstGeom>
          <a:ln w="28575">
            <a:solidFill>
              <a:schemeClr val="tx1"/>
            </a:solidFill>
          </a:ln>
        </p:spPr>
      </p:pic>
      <p:sp>
        <p:nvSpPr>
          <p:cNvPr id="16" name="TextBox 15">
            <a:extLst>
              <a:ext uri="{FF2B5EF4-FFF2-40B4-BE49-F238E27FC236}">
                <a16:creationId xmlns:a16="http://schemas.microsoft.com/office/drawing/2014/main" id="{F0E033CF-DCC9-AD7B-A8A3-C62C969D9AFC}"/>
              </a:ext>
            </a:extLst>
          </p:cNvPr>
          <p:cNvSpPr txBox="1"/>
          <p:nvPr/>
        </p:nvSpPr>
        <p:spPr>
          <a:xfrm>
            <a:off x="5820201" y="285662"/>
            <a:ext cx="3641678" cy="369332"/>
          </a:xfrm>
          <a:prstGeom prst="rect">
            <a:avLst/>
          </a:prstGeom>
          <a:noFill/>
        </p:spPr>
        <p:txBody>
          <a:bodyPr wrap="square">
            <a:spAutoFit/>
          </a:bodyPr>
          <a:lstStyle/>
          <a:p>
            <a:r>
              <a:rPr lang="en-US" b="1" i="1" dirty="0"/>
              <a:t>Air Quality Aggregation</a:t>
            </a:r>
            <a:endParaRPr lang="en-IN" b="1" i="1" dirty="0"/>
          </a:p>
        </p:txBody>
      </p:sp>
      <p:pic>
        <p:nvPicPr>
          <p:cNvPr id="17" name="Picture 16" descr="The image depicts a line graph showing a rising trend in temperature anomaly over the years, with data points from 2000 to 2025.&#10;&#10;AI-generated content may be incorrect.">
            <a:extLst>
              <a:ext uri="{FF2B5EF4-FFF2-40B4-BE49-F238E27FC236}">
                <a16:creationId xmlns:a16="http://schemas.microsoft.com/office/drawing/2014/main" id="{53C84161-A415-3555-7EA1-C2E9F929E6CC}"/>
              </a:ext>
            </a:extLst>
          </p:cNvPr>
          <p:cNvPicPr>
            <a:picLocks noChangeAspect="1"/>
          </p:cNvPicPr>
          <p:nvPr/>
        </p:nvPicPr>
        <p:blipFill>
          <a:blip r:embed="rId5"/>
          <a:stretch>
            <a:fillRect/>
          </a:stretch>
        </p:blipFill>
        <p:spPr>
          <a:xfrm>
            <a:off x="313900" y="3709024"/>
            <a:ext cx="4922292" cy="2828039"/>
          </a:xfrm>
          <a:prstGeom prst="rect">
            <a:avLst/>
          </a:prstGeom>
          <a:ln w="28575">
            <a:solidFill>
              <a:schemeClr val="tx1"/>
            </a:solidFill>
          </a:ln>
        </p:spPr>
      </p:pic>
      <p:sp>
        <p:nvSpPr>
          <p:cNvPr id="19" name="TextBox 18">
            <a:extLst>
              <a:ext uri="{FF2B5EF4-FFF2-40B4-BE49-F238E27FC236}">
                <a16:creationId xmlns:a16="http://schemas.microsoft.com/office/drawing/2014/main" id="{CA2F848F-A228-E740-A114-FB5D809A2F14}"/>
              </a:ext>
            </a:extLst>
          </p:cNvPr>
          <p:cNvSpPr txBox="1"/>
          <p:nvPr/>
        </p:nvSpPr>
        <p:spPr>
          <a:xfrm>
            <a:off x="3669542" y="4934471"/>
            <a:ext cx="1591670" cy="270459"/>
          </a:xfrm>
          <a:prstGeom prst="rect">
            <a:avLst/>
          </a:prstGeom>
          <a:noFill/>
        </p:spPr>
        <p:txBody>
          <a:bodyPr wrap="square">
            <a:spAutoFit/>
          </a:bodyPr>
          <a:lstStyle/>
          <a:p>
            <a:pPr>
              <a:lnSpc>
                <a:spcPct val="115000"/>
              </a:lnSpc>
              <a:spcAft>
                <a:spcPts val="1000"/>
              </a:spcAft>
              <a:buNone/>
            </a:pPr>
            <a:r>
              <a:rPr lang="en-US" sz="1100" b="1" i="1" dirty="0">
                <a:effectLst/>
                <a:latin typeface="Cambria" panose="02040503050406030204" pitchFamily="18" charset="0"/>
                <a:ea typeface="MS Mincho" panose="02020609040205080304" pitchFamily="49" charset="-128"/>
                <a:cs typeface="Times New Roman" panose="02020603050405020304" pitchFamily="18" charset="0"/>
              </a:rPr>
              <a:t>Temperature Trend</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p:txBody>
      </p:sp>
      <p:pic>
        <p:nvPicPr>
          <p:cNvPr id="20" name="Picture 19" descr="Week1_Capstone_Project&#10;&#10;AI-generated content may be incorrect.">
            <a:extLst>
              <a:ext uri="{FF2B5EF4-FFF2-40B4-BE49-F238E27FC236}">
                <a16:creationId xmlns:a16="http://schemas.microsoft.com/office/drawing/2014/main" id="{93A4C7CF-B16C-847D-B5AD-8CCB73CA3F12}"/>
              </a:ext>
            </a:extLst>
          </p:cNvPr>
          <p:cNvPicPr>
            <a:picLocks noChangeAspect="1"/>
          </p:cNvPicPr>
          <p:nvPr/>
        </p:nvPicPr>
        <p:blipFill>
          <a:blip r:embed="rId6"/>
          <a:stretch>
            <a:fillRect/>
          </a:stretch>
        </p:blipFill>
        <p:spPr>
          <a:xfrm>
            <a:off x="5530196" y="3831398"/>
            <a:ext cx="4855750" cy="2793180"/>
          </a:xfrm>
          <a:prstGeom prst="rect">
            <a:avLst/>
          </a:prstGeom>
          <a:ln w="28575">
            <a:solidFill>
              <a:schemeClr val="tx1"/>
            </a:solidFill>
          </a:ln>
        </p:spPr>
      </p:pic>
      <p:sp>
        <p:nvSpPr>
          <p:cNvPr id="22" name="TextBox 21">
            <a:extLst>
              <a:ext uri="{FF2B5EF4-FFF2-40B4-BE49-F238E27FC236}">
                <a16:creationId xmlns:a16="http://schemas.microsoft.com/office/drawing/2014/main" id="{576932DE-FE8E-5584-C428-B2CA06F79D9D}"/>
              </a:ext>
            </a:extLst>
          </p:cNvPr>
          <p:cNvSpPr txBox="1"/>
          <p:nvPr/>
        </p:nvSpPr>
        <p:spPr>
          <a:xfrm>
            <a:off x="5434661" y="3548849"/>
            <a:ext cx="1584846" cy="270459"/>
          </a:xfrm>
          <a:prstGeom prst="rect">
            <a:avLst/>
          </a:prstGeom>
          <a:noFill/>
        </p:spPr>
        <p:txBody>
          <a:bodyPr wrap="square">
            <a:spAutoFit/>
          </a:bodyPr>
          <a:lstStyle/>
          <a:p>
            <a:pPr>
              <a:lnSpc>
                <a:spcPct val="115000"/>
              </a:lnSpc>
              <a:spcAft>
                <a:spcPts val="1000"/>
              </a:spcAft>
              <a:buNone/>
            </a:pPr>
            <a:r>
              <a:rPr lang="en-US" sz="1100" b="1" i="1" dirty="0">
                <a:effectLst/>
                <a:latin typeface="Cambria" panose="02040503050406030204" pitchFamily="18" charset="0"/>
                <a:ea typeface="MS Mincho" panose="02020609040205080304" pitchFamily="49" charset="-128"/>
                <a:cs typeface="Times New Roman" panose="02020603050405020304" pitchFamily="18" charset="0"/>
              </a:rPr>
              <a:t>Correlation Heatmap</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782574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977AE-2AAC-5C1E-3D19-2DB7BB6C9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9601-0F45-2251-BB1C-1360A13548CC}"/>
              </a:ext>
            </a:extLst>
          </p:cNvPr>
          <p:cNvSpPr>
            <a:spLocks noGrp="1"/>
          </p:cNvSpPr>
          <p:nvPr>
            <p:ph type="title"/>
          </p:nvPr>
        </p:nvSpPr>
        <p:spPr>
          <a:xfrm>
            <a:off x="5147480" y="-108130"/>
            <a:ext cx="5069006" cy="654994"/>
          </a:xfrm>
        </p:spPr>
        <p:txBody>
          <a:bodyPr>
            <a:normAutofit/>
          </a:bodyPr>
          <a:lstStyle/>
          <a:p>
            <a:r>
              <a:rPr lang="en-IN" sz="2400" b="1" dirty="0"/>
              <a:t>Week-3</a:t>
            </a:r>
            <a:endParaRPr lang="en-IN" sz="2400" b="1" u="sng" dirty="0"/>
          </a:p>
        </p:txBody>
      </p:sp>
      <p:graphicFrame>
        <p:nvGraphicFramePr>
          <p:cNvPr id="6" name="Table 5">
            <a:extLst>
              <a:ext uri="{FF2B5EF4-FFF2-40B4-BE49-F238E27FC236}">
                <a16:creationId xmlns:a16="http://schemas.microsoft.com/office/drawing/2014/main" id="{ADC6A791-0ECA-0E96-353D-E79662973AFC}"/>
              </a:ext>
            </a:extLst>
          </p:cNvPr>
          <p:cNvGraphicFramePr>
            <a:graphicFrameLocks noGrp="1"/>
          </p:cNvGraphicFramePr>
          <p:nvPr>
            <p:extLst>
              <p:ext uri="{D42A27DB-BD31-4B8C-83A1-F6EECF244321}">
                <p14:modId xmlns:p14="http://schemas.microsoft.com/office/powerpoint/2010/main" val="1473750883"/>
              </p:ext>
            </p:extLst>
          </p:nvPr>
        </p:nvGraphicFramePr>
        <p:xfrm>
          <a:off x="694323" y="450947"/>
          <a:ext cx="3550694" cy="427176"/>
        </p:xfrm>
        <a:graphic>
          <a:graphicData uri="http://schemas.openxmlformats.org/drawingml/2006/table">
            <a:tbl>
              <a:tblPr/>
              <a:tblGrid>
                <a:gridCol w="3550694">
                  <a:extLst>
                    <a:ext uri="{9D8B030D-6E8A-4147-A177-3AD203B41FA5}">
                      <a16:colId xmlns:a16="http://schemas.microsoft.com/office/drawing/2014/main" val="135861639"/>
                    </a:ext>
                  </a:extLst>
                </a:gridCol>
              </a:tblGrid>
              <a:tr h="427176">
                <a:tc>
                  <a:txBody>
                    <a:bodyPr/>
                    <a:lstStyle/>
                    <a:p>
                      <a:pPr algn="ctr"/>
                      <a:r>
                        <a:rPr lang="en-IN" b="1" dirty="0"/>
                        <a:t>Projective objective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8" name="Table 7">
            <a:extLst>
              <a:ext uri="{FF2B5EF4-FFF2-40B4-BE49-F238E27FC236}">
                <a16:creationId xmlns:a16="http://schemas.microsoft.com/office/drawing/2014/main" id="{7D52C40F-57EB-BD28-4C02-CBBEC30CDDD2}"/>
              </a:ext>
            </a:extLst>
          </p:cNvPr>
          <p:cNvGraphicFramePr>
            <a:graphicFrameLocks noGrp="1"/>
          </p:cNvGraphicFramePr>
          <p:nvPr>
            <p:extLst>
              <p:ext uri="{D42A27DB-BD31-4B8C-83A1-F6EECF244321}">
                <p14:modId xmlns:p14="http://schemas.microsoft.com/office/powerpoint/2010/main" val="3190538190"/>
              </p:ext>
            </p:extLst>
          </p:nvPr>
        </p:nvGraphicFramePr>
        <p:xfrm>
          <a:off x="677266" y="878123"/>
          <a:ext cx="3567751" cy="5419338"/>
        </p:xfrm>
        <a:graphic>
          <a:graphicData uri="http://schemas.openxmlformats.org/drawingml/2006/table">
            <a:tbl>
              <a:tblPr/>
              <a:tblGrid>
                <a:gridCol w="3567751">
                  <a:extLst>
                    <a:ext uri="{9D8B030D-6E8A-4147-A177-3AD203B41FA5}">
                      <a16:colId xmlns:a16="http://schemas.microsoft.com/office/drawing/2014/main" val="135861639"/>
                    </a:ext>
                  </a:extLst>
                </a:gridCol>
              </a:tblGrid>
              <a:tr h="5419338">
                <a:tc>
                  <a:txBody>
                    <a:bodyPr/>
                    <a:lstStyle/>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The objective of Week 3 is to design and implement an automated, scalable, and production-ready data pipeline to handle environmental datasets efficiently. </a:t>
                      </a:r>
                    </a:p>
                    <a:p>
                      <a:pPr marL="0" indent="0">
                        <a:buFont typeface="Wingdings" panose="05000000000000000000" pitchFamily="2" charset="2"/>
                        <a:buNone/>
                      </a:pPr>
                      <a:endPar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buFont typeface="Wingdings" panose="05000000000000000000" pitchFamily="2" charset="2"/>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This phase builds upon: </a:t>
                      </a:r>
                    </a:p>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Week 1: Data collection and exploratory data analysis </a:t>
                      </a:r>
                    </a:p>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Week 2: Data cleaning, transformation, and integration </a:t>
                      </a:r>
                    </a:p>
                    <a:p>
                      <a:pPr marL="285750" indent="-285750">
                        <a:buFont typeface="Wingdings" panose="05000000000000000000" pitchFamily="2" charset="2"/>
                        <a:buChar char="Ø"/>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goal was to convert these processes into a robust, automated pipeline system capable of ingestion, transformation, storage, and monitoring. </a:t>
                      </a: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0" name="Table 9">
            <a:extLst>
              <a:ext uri="{FF2B5EF4-FFF2-40B4-BE49-F238E27FC236}">
                <a16:creationId xmlns:a16="http://schemas.microsoft.com/office/drawing/2014/main" id="{803669C5-A17D-8A8B-5B53-ADE8B079FD3C}"/>
              </a:ext>
            </a:extLst>
          </p:cNvPr>
          <p:cNvGraphicFramePr>
            <a:graphicFrameLocks noGrp="1"/>
          </p:cNvGraphicFramePr>
          <p:nvPr>
            <p:extLst>
              <p:ext uri="{D42A27DB-BD31-4B8C-83A1-F6EECF244321}">
                <p14:modId xmlns:p14="http://schemas.microsoft.com/office/powerpoint/2010/main" val="1116190862"/>
              </p:ext>
            </p:extLst>
          </p:nvPr>
        </p:nvGraphicFramePr>
        <p:xfrm>
          <a:off x="4236489" y="450950"/>
          <a:ext cx="7730342" cy="427173"/>
        </p:xfrm>
        <a:graphic>
          <a:graphicData uri="http://schemas.openxmlformats.org/drawingml/2006/table">
            <a:tbl>
              <a:tblPr/>
              <a:tblGrid>
                <a:gridCol w="7730342">
                  <a:extLst>
                    <a:ext uri="{9D8B030D-6E8A-4147-A177-3AD203B41FA5}">
                      <a16:colId xmlns:a16="http://schemas.microsoft.com/office/drawing/2014/main" val="135861639"/>
                    </a:ext>
                  </a:extLst>
                </a:gridCol>
              </a:tblGrid>
              <a:tr h="427173">
                <a:tc>
                  <a:txBody>
                    <a:bodyPr/>
                    <a:lstStyle/>
                    <a:p>
                      <a:pPr algn="ctr"/>
                      <a:r>
                        <a:rPr lang="en-IN" b="1" dirty="0"/>
                        <a:t>What’s accomplished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2" name="Table 11">
            <a:extLst>
              <a:ext uri="{FF2B5EF4-FFF2-40B4-BE49-F238E27FC236}">
                <a16:creationId xmlns:a16="http://schemas.microsoft.com/office/drawing/2014/main" id="{3D6B1E0A-B677-4CFA-0F48-0F959A231711}"/>
              </a:ext>
            </a:extLst>
          </p:cNvPr>
          <p:cNvGraphicFramePr>
            <a:graphicFrameLocks noGrp="1"/>
          </p:cNvGraphicFramePr>
          <p:nvPr>
            <p:extLst>
              <p:ext uri="{D42A27DB-BD31-4B8C-83A1-F6EECF244321}">
                <p14:modId xmlns:p14="http://schemas.microsoft.com/office/powerpoint/2010/main" val="669073974"/>
              </p:ext>
            </p:extLst>
          </p:nvPr>
        </p:nvGraphicFramePr>
        <p:xfrm>
          <a:off x="4270607" y="878123"/>
          <a:ext cx="3667850" cy="5401598"/>
        </p:xfrm>
        <a:graphic>
          <a:graphicData uri="http://schemas.openxmlformats.org/drawingml/2006/table">
            <a:tbl>
              <a:tblPr/>
              <a:tblGrid>
                <a:gridCol w="3667850">
                  <a:extLst>
                    <a:ext uri="{9D8B030D-6E8A-4147-A177-3AD203B41FA5}">
                      <a16:colId xmlns:a16="http://schemas.microsoft.com/office/drawing/2014/main" val="135861639"/>
                    </a:ext>
                  </a:extLst>
                </a:gridCol>
              </a:tblGrid>
              <a:tr h="5401598">
                <a:tc>
                  <a:txBody>
                    <a:bodyPr/>
                    <a:lstStyle/>
                    <a:p>
                      <a:pPr marL="0" lvl="0" indent="0">
                        <a:buFont typeface="Wingdings" panose="05000000000000000000" pitchFamily="2" charset="2"/>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a:buFont typeface="Wingdings" panose="05000000000000000000" pitchFamily="2" charset="2"/>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a:buFont typeface="Wingdings" panose="05000000000000000000" pitchFamily="2" charset="2"/>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Automated Data Pipeline </a:t>
                      </a:r>
                    </a:p>
                    <a:p>
                      <a:pPr marL="0" lvl="0" indent="0">
                        <a:buFont typeface="Wingdings" panose="05000000000000000000" pitchFamily="2" charset="2"/>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Data ingestion from raw datasets.  </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Data cleaning and preprocessing. </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Feature extraction (Year, Month).  </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Data transformation </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Aggregation (daily → monthly → yearly). </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Dataset alignment and merging. </a:t>
                      </a:r>
                    </a:p>
                    <a:p>
                      <a:pPr marL="285750" indent="-285750">
                        <a:buFont typeface="Arial" panose="020B0604020202020204" pitchFamily="34" charset="0"/>
                        <a:buChar char="•"/>
                      </a:pPr>
                      <a:endParaRPr lang="en-IN" sz="1800" b="0" i="0" u="none" strike="noStrike" kern="1200" baseline="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buFont typeface="Arial" panose="020B0604020202020204" pitchFamily="34" charset="0"/>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16" name="Table 15">
            <a:extLst>
              <a:ext uri="{FF2B5EF4-FFF2-40B4-BE49-F238E27FC236}">
                <a16:creationId xmlns:a16="http://schemas.microsoft.com/office/drawing/2014/main" id="{3D486594-7314-5D55-89D9-B8C01CD5ED41}"/>
              </a:ext>
            </a:extLst>
          </p:cNvPr>
          <p:cNvGraphicFramePr>
            <a:graphicFrameLocks noGrp="1"/>
          </p:cNvGraphicFramePr>
          <p:nvPr>
            <p:extLst>
              <p:ext uri="{D42A27DB-BD31-4B8C-83A1-F6EECF244321}">
                <p14:modId xmlns:p14="http://schemas.microsoft.com/office/powerpoint/2010/main" val="4114322010"/>
              </p:ext>
            </p:extLst>
          </p:nvPr>
        </p:nvGraphicFramePr>
        <p:xfrm>
          <a:off x="7955518" y="878123"/>
          <a:ext cx="4011313" cy="5401598"/>
        </p:xfrm>
        <a:graphic>
          <a:graphicData uri="http://schemas.openxmlformats.org/drawingml/2006/table">
            <a:tbl>
              <a:tblPr/>
              <a:tblGrid>
                <a:gridCol w="4011313">
                  <a:extLst>
                    <a:ext uri="{9D8B030D-6E8A-4147-A177-3AD203B41FA5}">
                      <a16:colId xmlns:a16="http://schemas.microsoft.com/office/drawing/2014/main" val="135861639"/>
                    </a:ext>
                  </a:extLst>
                </a:gridCol>
              </a:tblGrid>
              <a:tr h="5401598">
                <a:tc>
                  <a:txBody>
                    <a:bodyPr/>
                    <a:lstStyle/>
                    <a:p>
                      <a:pPr marL="285750" lvl="0" indent="-285750">
                        <a:buFont typeface="Wingdings" panose="05000000000000000000" pitchFamily="2" charset="2"/>
                        <a:buChar char="Ø"/>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IN" sz="20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Modular Pipeline Design </a:t>
                      </a:r>
                    </a:p>
                    <a:p>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pipeline was modularized into reusable components: </a:t>
                      </a:r>
                    </a:p>
                    <a:p>
                      <a:pPr marL="285750" indent="-285750">
                        <a:buFont typeface="Arial" panose="020B0604020202020204" pitchFamily="34" charset="0"/>
                        <a:buChar char="•"/>
                      </a:pPr>
                      <a:r>
                        <a:rPr lang="en-IN" sz="1800" kern="12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load_data</a:t>
                      </a: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Data ingestion </a:t>
                      </a:r>
                    </a:p>
                    <a:p>
                      <a:pPr marL="285750" indent="-285750">
                        <a:buFont typeface="Arial" panose="020B0604020202020204" pitchFamily="34" charset="0"/>
                        <a:buChar char="•"/>
                      </a:pPr>
                      <a:r>
                        <a:rPr lang="en-US" sz="1800" kern="12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process_aqi</a:t>
                      </a: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Air quality processing </a:t>
                      </a:r>
                    </a:p>
                    <a:p>
                      <a:pPr marL="285750" indent="-285750">
                        <a:buFont typeface="Arial" panose="020B0604020202020204" pitchFamily="34" charset="0"/>
                        <a:buChar char="•"/>
                      </a:pPr>
                      <a:r>
                        <a:rPr lang="en-IN" sz="1800" kern="12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process_geo</a:t>
                      </a: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Geospatial processing </a:t>
                      </a:r>
                    </a:p>
                    <a:p>
                      <a:pPr marL="285750" indent="-285750">
                        <a:buFont typeface="Arial" panose="020B0604020202020204" pitchFamily="34" charset="0"/>
                        <a:buChar char="•"/>
                      </a:pPr>
                      <a:r>
                        <a:rPr lang="en-IN" sz="1800" kern="12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merge_data</a:t>
                      </a: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Dataset integration </a:t>
                      </a:r>
                    </a:p>
                    <a:p>
                      <a:pPr marL="285750" indent="-285750">
                        <a:buFont typeface="Arial" panose="020B0604020202020204" pitchFamily="34" charset="0"/>
                        <a:buChar char="•"/>
                      </a:pPr>
                      <a:r>
                        <a:rPr lang="en-IN" sz="1800" kern="12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save_to_postgres</a:t>
                      </a: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Database storage </a:t>
                      </a: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spTree>
    <p:extLst>
      <p:ext uri="{BB962C8B-B14F-4D97-AF65-F5344CB8AC3E}">
        <p14:creationId xmlns:p14="http://schemas.microsoft.com/office/powerpoint/2010/main" val="1891351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A146-B715-AD15-05FF-EAB250885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7DD43-4CD6-03CA-8A1C-172717211615}"/>
              </a:ext>
            </a:extLst>
          </p:cNvPr>
          <p:cNvSpPr>
            <a:spLocks noGrp="1"/>
          </p:cNvSpPr>
          <p:nvPr>
            <p:ph type="title"/>
          </p:nvPr>
        </p:nvSpPr>
        <p:spPr>
          <a:xfrm>
            <a:off x="1502394" y="20911"/>
            <a:ext cx="5069006" cy="654994"/>
          </a:xfrm>
        </p:spPr>
        <p:txBody>
          <a:bodyPr>
            <a:normAutofit/>
          </a:bodyPr>
          <a:lstStyle/>
          <a:p>
            <a:r>
              <a:rPr lang="en-IN" sz="2400" b="1" dirty="0"/>
              <a:t>Week-3</a:t>
            </a:r>
            <a:r>
              <a:rPr lang="en-IN" sz="2400" b="1" u="sng" dirty="0"/>
              <a:t> </a:t>
            </a:r>
          </a:p>
        </p:txBody>
      </p:sp>
      <p:cxnSp>
        <p:nvCxnSpPr>
          <p:cNvPr id="9" name="Straight Connector 8">
            <a:extLst>
              <a:ext uri="{FF2B5EF4-FFF2-40B4-BE49-F238E27FC236}">
                <a16:creationId xmlns:a16="http://schemas.microsoft.com/office/drawing/2014/main" id="{2207E0F3-0FA9-5A7E-288C-0130D0BC2058}"/>
              </a:ext>
            </a:extLst>
          </p:cNvPr>
          <p:cNvCxnSpPr>
            <a:cxnSpLocks/>
          </p:cNvCxnSpPr>
          <p:nvPr/>
        </p:nvCxnSpPr>
        <p:spPr>
          <a:xfrm>
            <a:off x="5477300" y="894155"/>
            <a:ext cx="0" cy="56932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096F5E6-2B8C-5E8F-782C-B7E02B2E3A41}"/>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pic>
        <p:nvPicPr>
          <p:cNvPr id="7" name="Picture 6">
            <a:extLst>
              <a:ext uri="{FF2B5EF4-FFF2-40B4-BE49-F238E27FC236}">
                <a16:creationId xmlns:a16="http://schemas.microsoft.com/office/drawing/2014/main" id="{AEC033D0-5F98-E895-1CFA-4B6FFA065356}"/>
              </a:ext>
            </a:extLst>
          </p:cNvPr>
          <p:cNvPicPr>
            <a:picLocks noChangeAspect="1"/>
          </p:cNvPicPr>
          <p:nvPr/>
        </p:nvPicPr>
        <p:blipFill>
          <a:blip r:embed="rId2"/>
          <a:stretch>
            <a:fillRect/>
          </a:stretch>
        </p:blipFill>
        <p:spPr>
          <a:xfrm>
            <a:off x="326431" y="829744"/>
            <a:ext cx="4956368" cy="5757657"/>
          </a:xfrm>
          <a:prstGeom prst="rect">
            <a:avLst/>
          </a:prstGeom>
        </p:spPr>
      </p:pic>
      <p:pic>
        <p:nvPicPr>
          <p:cNvPr id="11" name="Picture 10">
            <a:extLst>
              <a:ext uri="{FF2B5EF4-FFF2-40B4-BE49-F238E27FC236}">
                <a16:creationId xmlns:a16="http://schemas.microsoft.com/office/drawing/2014/main" id="{F66E4306-E01A-8DE6-5256-F2FABD90BE64}"/>
              </a:ext>
            </a:extLst>
          </p:cNvPr>
          <p:cNvPicPr>
            <a:picLocks noChangeAspect="1"/>
          </p:cNvPicPr>
          <p:nvPr/>
        </p:nvPicPr>
        <p:blipFill>
          <a:blip r:embed="rId3"/>
          <a:stretch>
            <a:fillRect/>
          </a:stretch>
        </p:blipFill>
        <p:spPr>
          <a:xfrm>
            <a:off x="5669024" y="2470045"/>
            <a:ext cx="6393323" cy="2340989"/>
          </a:xfrm>
          <a:prstGeom prst="rect">
            <a:avLst/>
          </a:prstGeom>
          <a:ln w="28575">
            <a:solidFill>
              <a:schemeClr val="tx1"/>
            </a:solidFill>
          </a:ln>
        </p:spPr>
      </p:pic>
      <p:sp>
        <p:nvSpPr>
          <p:cNvPr id="12" name="TextBox 11">
            <a:extLst>
              <a:ext uri="{FF2B5EF4-FFF2-40B4-BE49-F238E27FC236}">
                <a16:creationId xmlns:a16="http://schemas.microsoft.com/office/drawing/2014/main" id="{08FAB043-ED25-FC91-5B85-31822425A528}"/>
              </a:ext>
            </a:extLst>
          </p:cNvPr>
          <p:cNvSpPr txBox="1"/>
          <p:nvPr/>
        </p:nvSpPr>
        <p:spPr>
          <a:xfrm>
            <a:off x="5669024" y="1732844"/>
            <a:ext cx="2906971" cy="369332"/>
          </a:xfrm>
          <a:prstGeom prst="rect">
            <a:avLst/>
          </a:prstGeom>
          <a:noFill/>
        </p:spPr>
        <p:txBody>
          <a:bodyPr wrap="square" rtlCol="0">
            <a:spAutoFit/>
          </a:bodyPr>
          <a:lstStyle/>
          <a:p>
            <a:r>
              <a:rPr lang="en-IN" b="1" dirty="0"/>
              <a:t>Pipeline Execution </a:t>
            </a:r>
          </a:p>
        </p:txBody>
      </p:sp>
    </p:spTree>
    <p:extLst>
      <p:ext uri="{BB962C8B-B14F-4D97-AF65-F5344CB8AC3E}">
        <p14:creationId xmlns:p14="http://schemas.microsoft.com/office/powerpoint/2010/main" val="1169346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C5BDB-453D-A201-B50F-0A80256255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15CC9-EB3B-1546-18A4-224DDC8FB91D}"/>
              </a:ext>
            </a:extLst>
          </p:cNvPr>
          <p:cNvSpPr>
            <a:spLocks noGrp="1"/>
          </p:cNvSpPr>
          <p:nvPr>
            <p:ph type="title"/>
          </p:nvPr>
        </p:nvSpPr>
        <p:spPr>
          <a:xfrm>
            <a:off x="5147480" y="-108130"/>
            <a:ext cx="5069006" cy="654994"/>
          </a:xfrm>
        </p:spPr>
        <p:txBody>
          <a:bodyPr>
            <a:normAutofit/>
          </a:bodyPr>
          <a:lstStyle/>
          <a:p>
            <a:r>
              <a:rPr lang="en-IN" sz="2400" b="1" dirty="0"/>
              <a:t>Week-4</a:t>
            </a:r>
            <a:endParaRPr lang="en-IN" sz="2400" b="1" u="sng" dirty="0"/>
          </a:p>
        </p:txBody>
      </p:sp>
      <p:graphicFrame>
        <p:nvGraphicFramePr>
          <p:cNvPr id="6" name="Table 5">
            <a:extLst>
              <a:ext uri="{FF2B5EF4-FFF2-40B4-BE49-F238E27FC236}">
                <a16:creationId xmlns:a16="http://schemas.microsoft.com/office/drawing/2014/main" id="{1A5F56AF-259F-BA5D-1D84-63F4668FF39D}"/>
              </a:ext>
            </a:extLst>
          </p:cNvPr>
          <p:cNvGraphicFramePr>
            <a:graphicFrameLocks noGrp="1"/>
          </p:cNvGraphicFramePr>
          <p:nvPr>
            <p:extLst>
              <p:ext uri="{D42A27DB-BD31-4B8C-83A1-F6EECF244321}">
                <p14:modId xmlns:p14="http://schemas.microsoft.com/office/powerpoint/2010/main" val="2489923191"/>
              </p:ext>
            </p:extLst>
          </p:nvPr>
        </p:nvGraphicFramePr>
        <p:xfrm>
          <a:off x="694323" y="450947"/>
          <a:ext cx="3550694" cy="427176"/>
        </p:xfrm>
        <a:graphic>
          <a:graphicData uri="http://schemas.openxmlformats.org/drawingml/2006/table">
            <a:tbl>
              <a:tblPr/>
              <a:tblGrid>
                <a:gridCol w="3550694">
                  <a:extLst>
                    <a:ext uri="{9D8B030D-6E8A-4147-A177-3AD203B41FA5}">
                      <a16:colId xmlns:a16="http://schemas.microsoft.com/office/drawing/2014/main" val="135861639"/>
                    </a:ext>
                  </a:extLst>
                </a:gridCol>
              </a:tblGrid>
              <a:tr h="427176">
                <a:tc>
                  <a:txBody>
                    <a:bodyPr/>
                    <a:lstStyle/>
                    <a:p>
                      <a:pPr algn="ctr"/>
                      <a:r>
                        <a:rPr lang="en-IN" b="1" dirty="0"/>
                        <a:t>Project objective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8" name="Table 7">
            <a:extLst>
              <a:ext uri="{FF2B5EF4-FFF2-40B4-BE49-F238E27FC236}">
                <a16:creationId xmlns:a16="http://schemas.microsoft.com/office/drawing/2014/main" id="{FD6B4E30-4D05-2D26-FF75-5F594A3C5430}"/>
              </a:ext>
            </a:extLst>
          </p:cNvPr>
          <p:cNvGraphicFramePr>
            <a:graphicFrameLocks noGrp="1"/>
          </p:cNvGraphicFramePr>
          <p:nvPr>
            <p:extLst>
              <p:ext uri="{D42A27DB-BD31-4B8C-83A1-F6EECF244321}">
                <p14:modId xmlns:p14="http://schemas.microsoft.com/office/powerpoint/2010/main" val="890063891"/>
              </p:ext>
            </p:extLst>
          </p:nvPr>
        </p:nvGraphicFramePr>
        <p:xfrm>
          <a:off x="677266" y="878123"/>
          <a:ext cx="3567751" cy="5577840"/>
        </p:xfrm>
        <a:graphic>
          <a:graphicData uri="http://schemas.openxmlformats.org/drawingml/2006/table">
            <a:tbl>
              <a:tblPr/>
              <a:tblGrid>
                <a:gridCol w="3567751">
                  <a:extLst>
                    <a:ext uri="{9D8B030D-6E8A-4147-A177-3AD203B41FA5}">
                      <a16:colId xmlns:a16="http://schemas.microsoft.com/office/drawing/2014/main" val="135861639"/>
                    </a:ext>
                  </a:extLst>
                </a:gridCol>
              </a:tblGrid>
              <a:tr h="5419338">
                <a:tc>
                  <a:txBody>
                    <a:bodyPr/>
                    <a:lstStyle/>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objective of Week 4 was to transform the integrated environmental dataset into a feature-rich analytical dataset through a production-inspired feature engineering pipeline. </a:t>
                      </a:r>
                    </a:p>
                    <a:p>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implementation follows production-oriented software engineering practices including modular programming, configuration management, logging, exception handling, automated validation, and reusable pipeline execution. These practices improve reproducibility, maintainability, scalability, and reliability of the analytical workflow.</a:t>
                      </a:r>
                    </a:p>
                    <a:p>
                      <a:endParaRPr lang="en-IN" sz="1800" kern="1200" dirty="0">
                        <a:solidFill>
                          <a:schemeClr val="tx1"/>
                        </a:solidFill>
                        <a:effectLst/>
                        <a:latin typeface="+mn-lt"/>
                        <a:ea typeface="+mn-ea"/>
                        <a:cs typeface="+mn-cs"/>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0" name="Table 9">
            <a:extLst>
              <a:ext uri="{FF2B5EF4-FFF2-40B4-BE49-F238E27FC236}">
                <a16:creationId xmlns:a16="http://schemas.microsoft.com/office/drawing/2014/main" id="{A46DA297-C441-11BC-1274-7E8FB26E2F64}"/>
              </a:ext>
            </a:extLst>
          </p:cNvPr>
          <p:cNvGraphicFramePr>
            <a:graphicFrameLocks noGrp="1"/>
          </p:cNvGraphicFramePr>
          <p:nvPr/>
        </p:nvGraphicFramePr>
        <p:xfrm>
          <a:off x="4236489" y="450950"/>
          <a:ext cx="7730342" cy="427173"/>
        </p:xfrm>
        <a:graphic>
          <a:graphicData uri="http://schemas.openxmlformats.org/drawingml/2006/table">
            <a:tbl>
              <a:tblPr/>
              <a:tblGrid>
                <a:gridCol w="7730342">
                  <a:extLst>
                    <a:ext uri="{9D8B030D-6E8A-4147-A177-3AD203B41FA5}">
                      <a16:colId xmlns:a16="http://schemas.microsoft.com/office/drawing/2014/main" val="135861639"/>
                    </a:ext>
                  </a:extLst>
                </a:gridCol>
              </a:tblGrid>
              <a:tr h="427173">
                <a:tc>
                  <a:txBody>
                    <a:bodyPr/>
                    <a:lstStyle/>
                    <a:p>
                      <a:pPr algn="ctr"/>
                      <a:r>
                        <a:rPr lang="en-IN" b="1" dirty="0"/>
                        <a:t>What’s completed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2" name="Table 11">
            <a:extLst>
              <a:ext uri="{FF2B5EF4-FFF2-40B4-BE49-F238E27FC236}">
                <a16:creationId xmlns:a16="http://schemas.microsoft.com/office/drawing/2014/main" id="{5D972269-1BA0-0377-B673-409688292B63}"/>
              </a:ext>
            </a:extLst>
          </p:cNvPr>
          <p:cNvGraphicFramePr>
            <a:graphicFrameLocks noGrp="1"/>
          </p:cNvGraphicFramePr>
          <p:nvPr>
            <p:extLst>
              <p:ext uri="{D42A27DB-BD31-4B8C-83A1-F6EECF244321}">
                <p14:modId xmlns:p14="http://schemas.microsoft.com/office/powerpoint/2010/main" val="30133596"/>
              </p:ext>
            </p:extLst>
          </p:nvPr>
        </p:nvGraphicFramePr>
        <p:xfrm>
          <a:off x="4279900" y="878123"/>
          <a:ext cx="3658557" cy="5577840"/>
        </p:xfrm>
        <a:graphic>
          <a:graphicData uri="http://schemas.openxmlformats.org/drawingml/2006/table">
            <a:tbl>
              <a:tblPr/>
              <a:tblGrid>
                <a:gridCol w="3658557">
                  <a:extLst>
                    <a:ext uri="{9D8B030D-6E8A-4147-A177-3AD203B41FA5}">
                      <a16:colId xmlns:a16="http://schemas.microsoft.com/office/drawing/2014/main" val="135861639"/>
                    </a:ext>
                  </a:extLst>
                </a:gridCol>
              </a:tblGrid>
              <a:tr h="5344877">
                <a:tc>
                  <a:txBody>
                    <a:bodyPr/>
                    <a:lstStyle/>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Develop a modular Python-based feature engineering pipeline.</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Read the integrated environmental dataset directly from PostgreSQL.</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Validate dataset quality before processing.</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 rolling average features representing long-term environmental trends.</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 trend features that capture year-to-year environmental changes.</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Create lag features representing previous observations.</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 cumulative environmental indicators.</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Calculate environmental ratios and composite indices.</a:t>
                      </a:r>
                    </a:p>
                    <a:p>
                      <a:pPr marL="0" indent="0">
                        <a:buFont typeface="Arial" panose="020B0604020202020204" pitchFamily="34" charset="0"/>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16" name="Table 15">
            <a:extLst>
              <a:ext uri="{FF2B5EF4-FFF2-40B4-BE49-F238E27FC236}">
                <a16:creationId xmlns:a16="http://schemas.microsoft.com/office/drawing/2014/main" id="{60126088-EFB0-7974-2DF9-F67FFC033C6B}"/>
              </a:ext>
            </a:extLst>
          </p:cNvPr>
          <p:cNvGraphicFramePr>
            <a:graphicFrameLocks noGrp="1"/>
          </p:cNvGraphicFramePr>
          <p:nvPr>
            <p:extLst>
              <p:ext uri="{D42A27DB-BD31-4B8C-83A1-F6EECF244321}">
                <p14:modId xmlns:p14="http://schemas.microsoft.com/office/powerpoint/2010/main" val="3098765158"/>
              </p:ext>
            </p:extLst>
          </p:nvPr>
        </p:nvGraphicFramePr>
        <p:xfrm>
          <a:off x="7955518" y="878123"/>
          <a:ext cx="4011313" cy="5401598"/>
        </p:xfrm>
        <a:graphic>
          <a:graphicData uri="http://schemas.openxmlformats.org/drawingml/2006/table">
            <a:tbl>
              <a:tblPr/>
              <a:tblGrid>
                <a:gridCol w="4011313">
                  <a:extLst>
                    <a:ext uri="{9D8B030D-6E8A-4147-A177-3AD203B41FA5}">
                      <a16:colId xmlns:a16="http://schemas.microsoft.com/office/drawing/2014/main" val="135861639"/>
                    </a:ext>
                  </a:extLst>
                </a:gridCol>
              </a:tblGrid>
              <a:tr h="5401598">
                <a:tc>
                  <a:txBody>
                    <a:bodyPr/>
                    <a:lstStyle/>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Datasets used</a:t>
                      </a:r>
                    </a:p>
                    <a:p>
                      <a:pPr marL="285750" indent="-285750">
                        <a:buFont typeface="Arial" panose="020B0604020202020204" pitchFamily="34" charset="0"/>
                        <a:buChar char="•"/>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NASA GISTEMP</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India AQI Dataset</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UN Environmental Dataset</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Environment_Merged</a:t>
                      </a:r>
                    </a:p>
                    <a:p>
                      <a:pPr marL="285750" indent="-285750">
                        <a:buFont typeface="Arial" panose="020B0604020202020204" pitchFamily="34" charset="0"/>
                        <a:buChar char="•"/>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Configuration steps performed</a:t>
                      </a:r>
                    </a:p>
                    <a:p>
                      <a:pPr marL="0" indent="0">
                        <a:buFont typeface="Arial" panose="020B0604020202020204" pitchFamily="34" charset="0"/>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1 – Configuration Loading</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2 – PostgreSQL Connection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3 – Dataset Validation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4 – Feature Engineering</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5 – Feature Normalization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6 – Metadata Generation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7 – Data Quality Reporting</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8 – Database Update</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9 – Validation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10 – Execution Reporting</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spTree>
    <p:extLst>
      <p:ext uri="{BB962C8B-B14F-4D97-AF65-F5344CB8AC3E}">
        <p14:creationId xmlns:p14="http://schemas.microsoft.com/office/powerpoint/2010/main" val="492614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0EEDD-A675-93AF-AE84-80DA1B240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188CD-64ED-EA0C-ED54-05301E17195B}"/>
              </a:ext>
            </a:extLst>
          </p:cNvPr>
          <p:cNvSpPr>
            <a:spLocks noGrp="1"/>
          </p:cNvSpPr>
          <p:nvPr>
            <p:ph type="title"/>
          </p:nvPr>
        </p:nvSpPr>
        <p:spPr>
          <a:xfrm>
            <a:off x="1502394" y="20911"/>
            <a:ext cx="5069006" cy="654994"/>
          </a:xfrm>
        </p:spPr>
        <p:txBody>
          <a:bodyPr>
            <a:normAutofit/>
          </a:bodyPr>
          <a:lstStyle/>
          <a:p>
            <a:r>
              <a:rPr lang="en-IN" sz="2400" b="1" dirty="0"/>
              <a:t>Week-4</a:t>
            </a:r>
            <a:r>
              <a:rPr lang="en-IN" sz="2400" b="1" u="sng" dirty="0"/>
              <a:t> </a:t>
            </a:r>
          </a:p>
        </p:txBody>
      </p:sp>
      <p:sp>
        <p:nvSpPr>
          <p:cNvPr id="4" name="TextBox 3">
            <a:extLst>
              <a:ext uri="{FF2B5EF4-FFF2-40B4-BE49-F238E27FC236}">
                <a16:creationId xmlns:a16="http://schemas.microsoft.com/office/drawing/2014/main" id="{9B33DB93-F325-869D-1EB2-03E0EFD44920}"/>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pic>
        <p:nvPicPr>
          <p:cNvPr id="6" name="Picture 5">
            <a:extLst>
              <a:ext uri="{FF2B5EF4-FFF2-40B4-BE49-F238E27FC236}">
                <a16:creationId xmlns:a16="http://schemas.microsoft.com/office/drawing/2014/main" id="{D9C5E96B-4FF4-3541-51D5-475F5882DACA}"/>
              </a:ext>
            </a:extLst>
          </p:cNvPr>
          <p:cNvPicPr>
            <a:picLocks noChangeAspect="1"/>
          </p:cNvPicPr>
          <p:nvPr/>
        </p:nvPicPr>
        <p:blipFill>
          <a:blip r:embed="rId2">
            <a:extLst>
              <a:ext uri="{28A0092B-C50C-407E-A947-70E740481C1C}">
                <a14:useLocalDpi xmlns:a14="http://schemas.microsoft.com/office/drawing/2010/main" val="0"/>
              </a:ext>
            </a:extLst>
          </a:blip>
          <a:srcRect b="10106"/>
          <a:stretch>
            <a:fillRect/>
          </a:stretch>
        </p:blipFill>
        <p:spPr>
          <a:xfrm>
            <a:off x="1225550" y="1400333"/>
            <a:ext cx="10048810" cy="508396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91328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5B9F-940A-4808-0B59-71686C530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0774-FDB9-421F-B064-FE1AA086F9E3}"/>
              </a:ext>
            </a:extLst>
          </p:cNvPr>
          <p:cNvSpPr>
            <a:spLocks noGrp="1"/>
          </p:cNvSpPr>
          <p:nvPr>
            <p:ph type="title"/>
          </p:nvPr>
        </p:nvSpPr>
        <p:spPr>
          <a:xfrm>
            <a:off x="1502394" y="20911"/>
            <a:ext cx="5069006" cy="654994"/>
          </a:xfrm>
        </p:spPr>
        <p:txBody>
          <a:bodyPr>
            <a:normAutofit/>
          </a:bodyPr>
          <a:lstStyle/>
          <a:p>
            <a:r>
              <a:rPr lang="en-IN" sz="2400" b="1" dirty="0"/>
              <a:t>Week-4</a:t>
            </a:r>
            <a:r>
              <a:rPr lang="en-IN" sz="2400" b="1" u="sng" dirty="0"/>
              <a:t> </a:t>
            </a:r>
          </a:p>
        </p:txBody>
      </p:sp>
      <p:sp>
        <p:nvSpPr>
          <p:cNvPr id="4" name="TextBox 3">
            <a:extLst>
              <a:ext uri="{FF2B5EF4-FFF2-40B4-BE49-F238E27FC236}">
                <a16:creationId xmlns:a16="http://schemas.microsoft.com/office/drawing/2014/main" id="{854BCE98-12F5-5DFB-51A7-EF6949214505}"/>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pic>
        <p:nvPicPr>
          <p:cNvPr id="3" name="Picture 2" descr="The image displays a user interface for pgAdmin 4, a database administration tool, with various options such as 'File Object Tools', 'Query History', and different tables like 'environment_merged' and 'air_quality'.&#10;&#10;AI-generated content may be incorrect.">
            <a:extLst>
              <a:ext uri="{FF2B5EF4-FFF2-40B4-BE49-F238E27FC236}">
                <a16:creationId xmlns:a16="http://schemas.microsoft.com/office/drawing/2014/main" id="{87811002-2A13-8971-A6FD-7B9EB5D8087B}"/>
              </a:ext>
            </a:extLst>
          </p:cNvPr>
          <p:cNvPicPr>
            <a:picLocks noChangeAspect="1"/>
          </p:cNvPicPr>
          <p:nvPr/>
        </p:nvPicPr>
        <p:blipFill>
          <a:blip r:embed="rId2"/>
          <a:stretch>
            <a:fillRect/>
          </a:stretch>
        </p:blipFill>
        <p:spPr>
          <a:xfrm>
            <a:off x="281939" y="1050554"/>
            <a:ext cx="5436389" cy="2460995"/>
          </a:xfrm>
          <a:prstGeom prst="rect">
            <a:avLst/>
          </a:prstGeom>
          <a:ln w="28575">
            <a:solidFill>
              <a:schemeClr val="tx1"/>
            </a:solidFill>
          </a:ln>
        </p:spPr>
      </p:pic>
      <p:pic>
        <p:nvPicPr>
          <p:cNvPr id="5" name="Picture 4" descr="The image displays a database validation report with a successful execution, showing 1 row processed, 40 columns generated, and no duplicate or missing values.&#10;&#10;AI-generated content may be incorrect.">
            <a:extLst>
              <a:ext uri="{FF2B5EF4-FFF2-40B4-BE49-F238E27FC236}">
                <a16:creationId xmlns:a16="http://schemas.microsoft.com/office/drawing/2014/main" id="{10EFC738-3F06-3A25-4310-156212405324}"/>
              </a:ext>
            </a:extLst>
          </p:cNvPr>
          <p:cNvPicPr>
            <a:picLocks noChangeAspect="1"/>
          </p:cNvPicPr>
          <p:nvPr/>
        </p:nvPicPr>
        <p:blipFill>
          <a:blip r:embed="rId3"/>
          <a:srcRect r="3339"/>
          <a:stretch>
            <a:fillRect/>
          </a:stretch>
        </p:blipFill>
        <p:spPr>
          <a:xfrm>
            <a:off x="364489" y="4080510"/>
            <a:ext cx="5436389" cy="2291080"/>
          </a:xfrm>
          <a:prstGeom prst="rect">
            <a:avLst/>
          </a:prstGeom>
          <a:ln w="28575">
            <a:solidFill>
              <a:schemeClr val="tx1"/>
            </a:solidFill>
          </a:ln>
        </p:spPr>
      </p:pic>
      <p:pic>
        <p:nvPicPr>
          <p:cNvPr id="7" name="Picture 6" descr="A data processing pipeline has started, loading and validating a merged dataset with 1 row and various environmental data types, reporting no duplicates and no missing values.&#10;&#10;AI-generated content may be incorrect.">
            <a:extLst>
              <a:ext uri="{FF2B5EF4-FFF2-40B4-BE49-F238E27FC236}">
                <a16:creationId xmlns:a16="http://schemas.microsoft.com/office/drawing/2014/main" id="{6BAFB025-C0F2-9564-E473-4A7E6B883EF3}"/>
              </a:ext>
            </a:extLst>
          </p:cNvPr>
          <p:cNvPicPr>
            <a:picLocks noChangeAspect="1"/>
          </p:cNvPicPr>
          <p:nvPr/>
        </p:nvPicPr>
        <p:blipFill>
          <a:blip r:embed="rId4"/>
          <a:srcRect l="-3520" t="-6175" r="23978" b="6175"/>
          <a:stretch>
            <a:fillRect/>
          </a:stretch>
        </p:blipFill>
        <p:spPr>
          <a:xfrm>
            <a:off x="6571400" y="1481137"/>
            <a:ext cx="4879169" cy="4175125"/>
          </a:xfrm>
          <a:prstGeom prst="rect">
            <a:avLst/>
          </a:prstGeom>
          <a:ln w="28575">
            <a:solidFill>
              <a:schemeClr val="tx1"/>
            </a:solidFill>
          </a:ln>
        </p:spPr>
      </p:pic>
      <p:sp>
        <p:nvSpPr>
          <p:cNvPr id="9" name="TextBox 8">
            <a:extLst>
              <a:ext uri="{FF2B5EF4-FFF2-40B4-BE49-F238E27FC236}">
                <a16:creationId xmlns:a16="http://schemas.microsoft.com/office/drawing/2014/main" id="{3BF7A0AF-3CB6-F150-B6F0-4A14264DA911}"/>
              </a:ext>
            </a:extLst>
          </p:cNvPr>
          <p:cNvSpPr txBox="1"/>
          <p:nvPr/>
        </p:nvSpPr>
        <p:spPr>
          <a:xfrm>
            <a:off x="6473674" y="1031504"/>
            <a:ext cx="2901950" cy="338554"/>
          </a:xfrm>
          <a:prstGeom prst="rect">
            <a:avLst/>
          </a:prstGeom>
          <a:noFill/>
        </p:spPr>
        <p:txBody>
          <a:bodyPr wrap="square">
            <a:spAutoFit/>
          </a:bodyPr>
          <a:lstStyle/>
          <a:p>
            <a:r>
              <a:rPr lang="en-IN" sz="1600" b="1" dirty="0">
                <a:effectLst/>
                <a:latin typeface="Calibri" panose="020F0502020204030204" pitchFamily="34" charset="0"/>
                <a:ea typeface="Calibri" panose="020F0502020204030204" pitchFamily="34" charset="0"/>
                <a:cs typeface="Calibri" panose="020F0502020204030204" pitchFamily="34" charset="0"/>
              </a:rPr>
              <a:t>Successful Pipeline Execution</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B8CB8A4D-EECF-B489-1E9D-466720960BC4}"/>
              </a:ext>
            </a:extLst>
          </p:cNvPr>
          <p:cNvSpPr txBox="1"/>
          <p:nvPr/>
        </p:nvSpPr>
        <p:spPr>
          <a:xfrm>
            <a:off x="281939" y="3665224"/>
            <a:ext cx="3181350" cy="338554"/>
          </a:xfrm>
          <a:prstGeom prst="rect">
            <a:avLst/>
          </a:prstGeom>
          <a:noFill/>
        </p:spPr>
        <p:txBody>
          <a:bodyPr wrap="square">
            <a:spAutoFit/>
          </a:bodyPr>
          <a:lstStyle/>
          <a:p>
            <a:r>
              <a:rPr lang="en-IN" sz="1600" b="1" dirty="0">
                <a:effectLst/>
                <a:latin typeface="Calibri" panose="020F0502020204030204" pitchFamily="34" charset="0"/>
                <a:ea typeface="Calibri" panose="020F0502020204030204" pitchFamily="34" charset="0"/>
                <a:cs typeface="Calibri" panose="020F0502020204030204" pitchFamily="34" charset="0"/>
              </a:rPr>
              <a:t>Database Validation</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CE4E01A-1917-0942-250F-04098D256973}"/>
              </a:ext>
            </a:extLst>
          </p:cNvPr>
          <p:cNvSpPr txBox="1"/>
          <p:nvPr/>
        </p:nvSpPr>
        <p:spPr>
          <a:xfrm>
            <a:off x="197686" y="558325"/>
            <a:ext cx="3839211" cy="338554"/>
          </a:xfrm>
          <a:prstGeom prst="rect">
            <a:avLst/>
          </a:prstGeom>
          <a:noFill/>
        </p:spPr>
        <p:txBody>
          <a:bodyPr wrap="square">
            <a:spAutoFit/>
          </a:bodyPr>
          <a:lstStyle/>
          <a:p>
            <a:r>
              <a:rPr lang="en-IN" sz="1600" b="1" dirty="0">
                <a:effectLst/>
                <a:latin typeface="Calibri" panose="020F0502020204030204" pitchFamily="34" charset="0"/>
                <a:ea typeface="Calibri" panose="020F0502020204030204" pitchFamily="34" charset="0"/>
                <a:cs typeface="Calibri" panose="020F0502020204030204" pitchFamily="34" charset="0"/>
              </a:rPr>
              <a:t>PostgreSQL Feature Engineered Table</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04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3796E-AE3A-0F2A-640A-92C6DD38E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87F43-B902-CD69-FCA3-8E4E465A4C73}"/>
              </a:ext>
            </a:extLst>
          </p:cNvPr>
          <p:cNvSpPr>
            <a:spLocks noGrp="1"/>
          </p:cNvSpPr>
          <p:nvPr>
            <p:ph type="title"/>
          </p:nvPr>
        </p:nvSpPr>
        <p:spPr>
          <a:xfrm>
            <a:off x="5147480" y="-108130"/>
            <a:ext cx="5069006" cy="654994"/>
          </a:xfrm>
        </p:spPr>
        <p:txBody>
          <a:bodyPr>
            <a:normAutofit/>
          </a:bodyPr>
          <a:lstStyle/>
          <a:p>
            <a:r>
              <a:rPr lang="en-IN" sz="2400" b="1" dirty="0"/>
              <a:t>Week-5</a:t>
            </a:r>
            <a:endParaRPr lang="en-IN" sz="2400" b="1" u="sng" dirty="0"/>
          </a:p>
        </p:txBody>
      </p:sp>
      <p:graphicFrame>
        <p:nvGraphicFramePr>
          <p:cNvPr id="6" name="Table 5">
            <a:extLst>
              <a:ext uri="{FF2B5EF4-FFF2-40B4-BE49-F238E27FC236}">
                <a16:creationId xmlns:a16="http://schemas.microsoft.com/office/drawing/2014/main" id="{CECE294F-FF2B-412F-C001-984A50E9FBE6}"/>
              </a:ext>
            </a:extLst>
          </p:cNvPr>
          <p:cNvGraphicFramePr>
            <a:graphicFrameLocks noGrp="1"/>
          </p:cNvGraphicFramePr>
          <p:nvPr>
            <p:extLst>
              <p:ext uri="{D42A27DB-BD31-4B8C-83A1-F6EECF244321}">
                <p14:modId xmlns:p14="http://schemas.microsoft.com/office/powerpoint/2010/main" val="595836857"/>
              </p:ext>
            </p:extLst>
          </p:nvPr>
        </p:nvGraphicFramePr>
        <p:xfrm>
          <a:off x="694323" y="450947"/>
          <a:ext cx="3550694" cy="427176"/>
        </p:xfrm>
        <a:graphic>
          <a:graphicData uri="http://schemas.openxmlformats.org/drawingml/2006/table">
            <a:tbl>
              <a:tblPr/>
              <a:tblGrid>
                <a:gridCol w="3550694">
                  <a:extLst>
                    <a:ext uri="{9D8B030D-6E8A-4147-A177-3AD203B41FA5}">
                      <a16:colId xmlns:a16="http://schemas.microsoft.com/office/drawing/2014/main" val="135861639"/>
                    </a:ext>
                  </a:extLst>
                </a:gridCol>
              </a:tblGrid>
              <a:tr h="427176">
                <a:tc>
                  <a:txBody>
                    <a:bodyPr/>
                    <a:lstStyle/>
                    <a:p>
                      <a:pPr algn="ctr"/>
                      <a:r>
                        <a:rPr lang="en-IN" b="1" dirty="0"/>
                        <a:t>Project Objective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8" name="Table 7">
            <a:extLst>
              <a:ext uri="{FF2B5EF4-FFF2-40B4-BE49-F238E27FC236}">
                <a16:creationId xmlns:a16="http://schemas.microsoft.com/office/drawing/2014/main" id="{BCC8451E-6904-A9FD-4072-FBD45D74356D}"/>
              </a:ext>
            </a:extLst>
          </p:cNvPr>
          <p:cNvGraphicFramePr>
            <a:graphicFrameLocks noGrp="1"/>
          </p:cNvGraphicFramePr>
          <p:nvPr>
            <p:extLst>
              <p:ext uri="{D42A27DB-BD31-4B8C-83A1-F6EECF244321}">
                <p14:modId xmlns:p14="http://schemas.microsoft.com/office/powerpoint/2010/main" val="3108644430"/>
              </p:ext>
            </p:extLst>
          </p:nvPr>
        </p:nvGraphicFramePr>
        <p:xfrm>
          <a:off x="685800" y="878123"/>
          <a:ext cx="3559217" cy="5577840"/>
        </p:xfrm>
        <a:graphic>
          <a:graphicData uri="http://schemas.openxmlformats.org/drawingml/2006/table">
            <a:tbl>
              <a:tblPr/>
              <a:tblGrid>
                <a:gridCol w="3559217">
                  <a:extLst>
                    <a:ext uri="{9D8B030D-6E8A-4147-A177-3AD203B41FA5}">
                      <a16:colId xmlns:a16="http://schemas.microsoft.com/office/drawing/2014/main" val="135861639"/>
                    </a:ext>
                  </a:extLst>
                </a:gridCol>
              </a:tblGrid>
              <a:tr h="5419338">
                <a:tc>
                  <a:txBody>
                    <a:bodyPr/>
                    <a:lstStyle/>
                    <a:p>
                      <a:pPr marL="0" indent="0">
                        <a:buFont typeface="Wingdings" panose="05000000000000000000" pitchFamily="2" charset="2"/>
                        <a:buNone/>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primary objectives of this project are: </a:t>
                      </a:r>
                    </a:p>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Objective 1: Integrate multiple environmental data sources. Objective 2: Perform feature engineering to generate environmental intelligence indicators. </a:t>
                      </a:r>
                    </a:p>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Objective 3: Develop machine learning models to forecast future environmental trends. </a:t>
                      </a:r>
                    </a:p>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Objective 4: Evaluate model performance using statistical metrics. </a:t>
                      </a:r>
                    </a:p>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Objective 5: Conduct scenario analysis for future environmental outcomes. </a:t>
                      </a:r>
                    </a:p>
                    <a:p>
                      <a:pPr marL="285750" indent="-285750">
                        <a:buFont typeface="Wingdings" panose="05000000000000000000" pitchFamily="2" charset="2"/>
                        <a:buChar char="Ø"/>
                      </a:pPr>
                      <a:r>
                        <a:rPr lang="en-US"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Objective 6: Provide Power BI-ready datasets for business intelligence visualization. </a:t>
                      </a: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0" name="Table 9">
            <a:extLst>
              <a:ext uri="{FF2B5EF4-FFF2-40B4-BE49-F238E27FC236}">
                <a16:creationId xmlns:a16="http://schemas.microsoft.com/office/drawing/2014/main" id="{3EE07D59-7022-44EC-E63E-F1E2D07CB78F}"/>
              </a:ext>
            </a:extLst>
          </p:cNvPr>
          <p:cNvGraphicFramePr>
            <a:graphicFrameLocks noGrp="1"/>
          </p:cNvGraphicFramePr>
          <p:nvPr>
            <p:extLst>
              <p:ext uri="{D42A27DB-BD31-4B8C-83A1-F6EECF244321}">
                <p14:modId xmlns:p14="http://schemas.microsoft.com/office/powerpoint/2010/main" val="517296498"/>
              </p:ext>
            </p:extLst>
          </p:nvPr>
        </p:nvGraphicFramePr>
        <p:xfrm>
          <a:off x="4236489" y="450950"/>
          <a:ext cx="7730342" cy="427173"/>
        </p:xfrm>
        <a:graphic>
          <a:graphicData uri="http://schemas.openxmlformats.org/drawingml/2006/table">
            <a:tbl>
              <a:tblPr/>
              <a:tblGrid>
                <a:gridCol w="7730342">
                  <a:extLst>
                    <a:ext uri="{9D8B030D-6E8A-4147-A177-3AD203B41FA5}">
                      <a16:colId xmlns:a16="http://schemas.microsoft.com/office/drawing/2014/main" val="135861639"/>
                    </a:ext>
                  </a:extLst>
                </a:gridCol>
              </a:tblGrid>
              <a:tr h="427173">
                <a:tc>
                  <a:txBody>
                    <a:bodyPr/>
                    <a:lstStyle/>
                    <a:p>
                      <a:pPr algn="ctr"/>
                      <a:r>
                        <a:rPr lang="en-IN" dirty="0"/>
                        <a:t>Accomplishments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2" name="Table 11">
            <a:extLst>
              <a:ext uri="{FF2B5EF4-FFF2-40B4-BE49-F238E27FC236}">
                <a16:creationId xmlns:a16="http://schemas.microsoft.com/office/drawing/2014/main" id="{1361CD35-F05D-32D6-5A65-8652B042C7EB}"/>
              </a:ext>
            </a:extLst>
          </p:cNvPr>
          <p:cNvGraphicFramePr>
            <a:graphicFrameLocks noGrp="1"/>
          </p:cNvGraphicFramePr>
          <p:nvPr>
            <p:extLst>
              <p:ext uri="{D42A27DB-BD31-4B8C-83A1-F6EECF244321}">
                <p14:modId xmlns:p14="http://schemas.microsoft.com/office/powerpoint/2010/main" val="2714235086"/>
              </p:ext>
            </p:extLst>
          </p:nvPr>
        </p:nvGraphicFramePr>
        <p:xfrm>
          <a:off x="4279900" y="878123"/>
          <a:ext cx="3658557" cy="5577840"/>
        </p:xfrm>
        <a:graphic>
          <a:graphicData uri="http://schemas.openxmlformats.org/drawingml/2006/table">
            <a:tbl>
              <a:tblPr/>
              <a:tblGrid>
                <a:gridCol w="3658557">
                  <a:extLst>
                    <a:ext uri="{9D8B030D-6E8A-4147-A177-3AD203B41FA5}">
                      <a16:colId xmlns:a16="http://schemas.microsoft.com/office/drawing/2014/main" val="135861639"/>
                    </a:ext>
                  </a:extLst>
                </a:gridCol>
              </a:tblGrid>
              <a:tr h="5344877">
                <a:tc>
                  <a:txBody>
                    <a:bodyPr/>
                    <a:lstStyle/>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Develop a modular Python-based feature engineering pipeline.</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Read the integrated environmental dataset directly from PostgreSQL.</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Validate dataset quality before processing.</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 rolling average features representing long-term environmental trends.</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 trend features that capture year-to-year environmental changes.</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Create lag features representing previous observations.</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 cumulative environmental indicators.</a:t>
                      </a:r>
                    </a:p>
                    <a:p>
                      <a:pPr marL="285750" indent="-285750">
                        <a:buFont typeface="Wingdings" panose="05000000000000000000" pitchFamily="2" charset="2"/>
                        <a:buChar char="Ø"/>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Calculate environmental ratios and composite indices.</a:t>
                      </a:r>
                    </a:p>
                    <a:p>
                      <a:pPr marL="0" indent="0">
                        <a:buFont typeface="Arial" panose="020B0604020202020204" pitchFamily="34" charset="0"/>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16" name="Table 15">
            <a:extLst>
              <a:ext uri="{FF2B5EF4-FFF2-40B4-BE49-F238E27FC236}">
                <a16:creationId xmlns:a16="http://schemas.microsoft.com/office/drawing/2014/main" id="{F9B0ECEE-C04A-8364-9032-59D547741127}"/>
              </a:ext>
            </a:extLst>
          </p:cNvPr>
          <p:cNvGraphicFramePr>
            <a:graphicFrameLocks noGrp="1"/>
          </p:cNvGraphicFramePr>
          <p:nvPr/>
        </p:nvGraphicFramePr>
        <p:xfrm>
          <a:off x="7955518" y="878123"/>
          <a:ext cx="4011313" cy="5401598"/>
        </p:xfrm>
        <a:graphic>
          <a:graphicData uri="http://schemas.openxmlformats.org/drawingml/2006/table">
            <a:tbl>
              <a:tblPr/>
              <a:tblGrid>
                <a:gridCol w="4011313">
                  <a:extLst>
                    <a:ext uri="{9D8B030D-6E8A-4147-A177-3AD203B41FA5}">
                      <a16:colId xmlns:a16="http://schemas.microsoft.com/office/drawing/2014/main" val="135861639"/>
                    </a:ext>
                  </a:extLst>
                </a:gridCol>
              </a:tblGrid>
              <a:tr h="5401598">
                <a:tc>
                  <a:txBody>
                    <a:bodyPr/>
                    <a:lstStyle/>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Datasets used</a:t>
                      </a:r>
                    </a:p>
                    <a:p>
                      <a:pPr marL="285750" indent="-285750">
                        <a:buFont typeface="Arial" panose="020B0604020202020204" pitchFamily="34" charset="0"/>
                        <a:buChar char="•"/>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NASA GISTEMP</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India AQI Dataset</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UN Environmental Dataset</a:t>
                      </a:r>
                    </a:p>
                    <a:p>
                      <a:pPr marL="285750" indent="-285750">
                        <a:buFont typeface="Arial" panose="020B0604020202020204" pitchFamily="34" charset="0"/>
                        <a:buChar char="•"/>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Environment_Merged</a:t>
                      </a:r>
                    </a:p>
                    <a:p>
                      <a:pPr marL="285750" indent="-285750">
                        <a:buFont typeface="Arial" panose="020B0604020202020204" pitchFamily="34" charset="0"/>
                        <a:buChar char="•"/>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Configuration steps performed</a:t>
                      </a:r>
                    </a:p>
                    <a:p>
                      <a:pPr marL="0" indent="0">
                        <a:buFont typeface="Arial" panose="020B0604020202020204" pitchFamily="34" charset="0"/>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1 – Configuration Loading</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2 – PostgreSQL Connection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3 – Dataset Validation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4 – Feature Engineering</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5 – Feature Normalization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6 – Metadata Generation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7 – Data Quality Reporting</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8 – Database Update</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9 – Validation</a:t>
                      </a:r>
                    </a:p>
                    <a:p>
                      <a:pPr marL="0" indent="0">
                        <a:buFont typeface="Arial" panose="020B0604020202020204" pitchFamily="34" charset="0"/>
                        <a:buNone/>
                      </a:pPr>
                      <a:r>
                        <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Step 10 – Execution Reporting</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spTree>
    <p:extLst>
      <p:ext uri="{BB962C8B-B14F-4D97-AF65-F5344CB8AC3E}">
        <p14:creationId xmlns:p14="http://schemas.microsoft.com/office/powerpoint/2010/main" val="3558443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739C5-F0C4-D3B9-C6A3-D3956DB31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3DFED-3437-85A0-B3E4-E44EF53A435D}"/>
              </a:ext>
            </a:extLst>
          </p:cNvPr>
          <p:cNvSpPr>
            <a:spLocks noGrp="1"/>
          </p:cNvSpPr>
          <p:nvPr>
            <p:ph type="title"/>
          </p:nvPr>
        </p:nvSpPr>
        <p:spPr>
          <a:xfrm>
            <a:off x="1502394" y="20911"/>
            <a:ext cx="5069006" cy="654994"/>
          </a:xfrm>
        </p:spPr>
        <p:txBody>
          <a:bodyPr>
            <a:normAutofit/>
          </a:bodyPr>
          <a:lstStyle/>
          <a:p>
            <a:r>
              <a:rPr lang="en-IN" sz="2400" b="1" dirty="0"/>
              <a:t>Week-5</a:t>
            </a:r>
            <a:r>
              <a:rPr lang="en-IN" sz="2400" b="1" u="sng" dirty="0"/>
              <a:t> </a:t>
            </a:r>
          </a:p>
        </p:txBody>
      </p:sp>
      <p:sp>
        <p:nvSpPr>
          <p:cNvPr id="4" name="TextBox 3">
            <a:extLst>
              <a:ext uri="{FF2B5EF4-FFF2-40B4-BE49-F238E27FC236}">
                <a16:creationId xmlns:a16="http://schemas.microsoft.com/office/drawing/2014/main" id="{AD10507F-DFD1-4352-57F5-C887B2B7084F}"/>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pic>
        <p:nvPicPr>
          <p:cNvPr id="5" name="Picture 4">
            <a:extLst>
              <a:ext uri="{FF2B5EF4-FFF2-40B4-BE49-F238E27FC236}">
                <a16:creationId xmlns:a16="http://schemas.microsoft.com/office/drawing/2014/main" id="{FA72D0D1-0CE4-4F90-E6EB-478FC7058254}"/>
              </a:ext>
            </a:extLst>
          </p:cNvPr>
          <p:cNvPicPr>
            <a:picLocks noChangeAspect="1"/>
          </p:cNvPicPr>
          <p:nvPr/>
        </p:nvPicPr>
        <p:blipFill>
          <a:blip r:embed="rId2"/>
          <a:stretch>
            <a:fillRect/>
          </a:stretch>
        </p:blipFill>
        <p:spPr>
          <a:xfrm>
            <a:off x="290181" y="1031030"/>
            <a:ext cx="5034570" cy="2292527"/>
          </a:xfrm>
          <a:prstGeom prst="rect">
            <a:avLst/>
          </a:prstGeom>
        </p:spPr>
      </p:pic>
      <p:sp>
        <p:nvSpPr>
          <p:cNvPr id="7" name="TextBox 6">
            <a:extLst>
              <a:ext uri="{FF2B5EF4-FFF2-40B4-BE49-F238E27FC236}">
                <a16:creationId xmlns:a16="http://schemas.microsoft.com/office/drawing/2014/main" id="{30AD4820-FBD3-86A9-CCB9-0CC0C9201C0E}"/>
              </a:ext>
            </a:extLst>
          </p:cNvPr>
          <p:cNvSpPr txBox="1"/>
          <p:nvPr/>
        </p:nvSpPr>
        <p:spPr>
          <a:xfrm>
            <a:off x="5994400" y="672371"/>
            <a:ext cx="3378200" cy="338554"/>
          </a:xfrm>
          <a:prstGeom prst="rect">
            <a:avLst/>
          </a:prstGeom>
          <a:noFill/>
        </p:spPr>
        <p:txBody>
          <a:bodyPr wrap="square" rtlCol="0">
            <a:spAutoFit/>
          </a:bodyPr>
          <a:lstStyle/>
          <a:p>
            <a:r>
              <a:rPr lang="en-IN" sz="1600" b="1" dirty="0"/>
              <a:t>Actual vs Predicted value</a:t>
            </a:r>
          </a:p>
        </p:txBody>
      </p:sp>
      <p:pic>
        <p:nvPicPr>
          <p:cNvPr id="9" name="Picture 8">
            <a:extLst>
              <a:ext uri="{FF2B5EF4-FFF2-40B4-BE49-F238E27FC236}">
                <a16:creationId xmlns:a16="http://schemas.microsoft.com/office/drawing/2014/main" id="{B016EA96-7504-35E7-D96E-F0F711ED3E0B}"/>
              </a:ext>
            </a:extLst>
          </p:cNvPr>
          <p:cNvPicPr>
            <a:picLocks noChangeAspect="1"/>
          </p:cNvPicPr>
          <p:nvPr/>
        </p:nvPicPr>
        <p:blipFill>
          <a:blip r:embed="rId3"/>
          <a:stretch>
            <a:fillRect/>
          </a:stretch>
        </p:blipFill>
        <p:spPr>
          <a:xfrm>
            <a:off x="290181" y="4076701"/>
            <a:ext cx="5069006" cy="2412652"/>
          </a:xfrm>
          <a:prstGeom prst="rect">
            <a:avLst/>
          </a:prstGeom>
        </p:spPr>
      </p:pic>
      <p:sp>
        <p:nvSpPr>
          <p:cNvPr id="11" name="TextBox 10">
            <a:extLst>
              <a:ext uri="{FF2B5EF4-FFF2-40B4-BE49-F238E27FC236}">
                <a16:creationId xmlns:a16="http://schemas.microsoft.com/office/drawing/2014/main" id="{3981B5EE-7FF5-6569-FADB-D0BCCE27FAA3}"/>
              </a:ext>
            </a:extLst>
          </p:cNvPr>
          <p:cNvSpPr txBox="1"/>
          <p:nvPr/>
        </p:nvSpPr>
        <p:spPr>
          <a:xfrm>
            <a:off x="162544" y="3594045"/>
            <a:ext cx="3717306" cy="338554"/>
          </a:xfrm>
          <a:prstGeom prst="rect">
            <a:avLst/>
          </a:prstGeom>
          <a:noFill/>
        </p:spPr>
        <p:txBody>
          <a:bodyPr wrap="square">
            <a:spAutoFit/>
          </a:bodyPr>
          <a:lstStyle/>
          <a:p>
            <a:r>
              <a:rPr lang="en-IN" sz="1600" b="1" dirty="0"/>
              <a:t>Forecast Uncertainty Analysis </a:t>
            </a:r>
          </a:p>
        </p:txBody>
      </p:sp>
      <p:pic>
        <p:nvPicPr>
          <p:cNvPr id="13" name="Picture 12">
            <a:extLst>
              <a:ext uri="{FF2B5EF4-FFF2-40B4-BE49-F238E27FC236}">
                <a16:creationId xmlns:a16="http://schemas.microsoft.com/office/drawing/2014/main" id="{92E76D67-B95C-CC5F-6886-5C09178A5C2D}"/>
              </a:ext>
            </a:extLst>
          </p:cNvPr>
          <p:cNvPicPr>
            <a:picLocks noChangeAspect="1"/>
          </p:cNvPicPr>
          <p:nvPr/>
        </p:nvPicPr>
        <p:blipFill>
          <a:blip r:embed="rId4"/>
          <a:stretch>
            <a:fillRect/>
          </a:stretch>
        </p:blipFill>
        <p:spPr>
          <a:xfrm>
            <a:off x="6092248" y="1015388"/>
            <a:ext cx="4537651" cy="2396603"/>
          </a:xfrm>
          <a:prstGeom prst="rect">
            <a:avLst/>
          </a:prstGeom>
        </p:spPr>
      </p:pic>
      <p:pic>
        <p:nvPicPr>
          <p:cNvPr id="15" name="Picture 14">
            <a:extLst>
              <a:ext uri="{FF2B5EF4-FFF2-40B4-BE49-F238E27FC236}">
                <a16:creationId xmlns:a16="http://schemas.microsoft.com/office/drawing/2014/main" id="{904A03C0-E136-FAFD-27D1-EA180DE1FAB4}"/>
              </a:ext>
            </a:extLst>
          </p:cNvPr>
          <p:cNvPicPr>
            <a:picLocks noChangeAspect="1"/>
          </p:cNvPicPr>
          <p:nvPr/>
        </p:nvPicPr>
        <p:blipFill>
          <a:blip r:embed="rId5"/>
          <a:stretch>
            <a:fillRect/>
          </a:stretch>
        </p:blipFill>
        <p:spPr>
          <a:xfrm>
            <a:off x="6092248" y="4049937"/>
            <a:ext cx="4651952" cy="2600748"/>
          </a:xfrm>
          <a:prstGeom prst="rect">
            <a:avLst/>
          </a:prstGeom>
        </p:spPr>
      </p:pic>
      <p:sp>
        <p:nvSpPr>
          <p:cNvPr id="17" name="TextBox 16">
            <a:extLst>
              <a:ext uri="{FF2B5EF4-FFF2-40B4-BE49-F238E27FC236}">
                <a16:creationId xmlns:a16="http://schemas.microsoft.com/office/drawing/2014/main" id="{AB5FD012-DDC4-A027-7BC8-6363B582A8C1}"/>
              </a:ext>
            </a:extLst>
          </p:cNvPr>
          <p:cNvSpPr txBox="1"/>
          <p:nvPr/>
        </p:nvSpPr>
        <p:spPr>
          <a:xfrm>
            <a:off x="5994400" y="3594045"/>
            <a:ext cx="3048000" cy="338554"/>
          </a:xfrm>
          <a:prstGeom prst="rect">
            <a:avLst/>
          </a:prstGeom>
          <a:noFill/>
        </p:spPr>
        <p:txBody>
          <a:bodyPr wrap="square">
            <a:spAutoFit/>
          </a:bodyPr>
          <a:lstStyle/>
          <a:p>
            <a:r>
              <a:rPr lang="en-IN" sz="1600" b="1" dirty="0"/>
              <a:t>Residual Distribution </a:t>
            </a:r>
          </a:p>
        </p:txBody>
      </p:sp>
      <p:sp>
        <p:nvSpPr>
          <p:cNvPr id="19" name="TextBox 18">
            <a:extLst>
              <a:ext uri="{FF2B5EF4-FFF2-40B4-BE49-F238E27FC236}">
                <a16:creationId xmlns:a16="http://schemas.microsoft.com/office/drawing/2014/main" id="{6D92491B-8FEC-0C3D-CE60-50C939F9EAEE}"/>
              </a:ext>
            </a:extLst>
          </p:cNvPr>
          <p:cNvSpPr txBox="1"/>
          <p:nvPr/>
        </p:nvSpPr>
        <p:spPr>
          <a:xfrm>
            <a:off x="238744" y="605036"/>
            <a:ext cx="3378200" cy="338554"/>
          </a:xfrm>
          <a:prstGeom prst="rect">
            <a:avLst/>
          </a:prstGeom>
          <a:noFill/>
        </p:spPr>
        <p:txBody>
          <a:bodyPr wrap="square" rtlCol="0">
            <a:spAutoFit/>
          </a:bodyPr>
          <a:lstStyle/>
          <a:p>
            <a:r>
              <a:rPr lang="en-IN" sz="1600" b="1" dirty="0"/>
              <a:t>Temperature Forecast </a:t>
            </a:r>
          </a:p>
        </p:txBody>
      </p:sp>
    </p:spTree>
    <p:extLst>
      <p:ext uri="{BB962C8B-B14F-4D97-AF65-F5344CB8AC3E}">
        <p14:creationId xmlns:p14="http://schemas.microsoft.com/office/powerpoint/2010/main" val="3074409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B4359-4BCC-4D6A-2BB4-56B664080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7236D-6400-0CBF-BD96-07CAC0BBD826}"/>
              </a:ext>
            </a:extLst>
          </p:cNvPr>
          <p:cNvSpPr>
            <a:spLocks noGrp="1"/>
          </p:cNvSpPr>
          <p:nvPr>
            <p:ph type="title"/>
          </p:nvPr>
        </p:nvSpPr>
        <p:spPr>
          <a:xfrm>
            <a:off x="1502394" y="20911"/>
            <a:ext cx="5069006" cy="654994"/>
          </a:xfrm>
        </p:spPr>
        <p:txBody>
          <a:bodyPr>
            <a:normAutofit/>
          </a:bodyPr>
          <a:lstStyle/>
          <a:p>
            <a:r>
              <a:rPr lang="en-IN" sz="2400" b="1" dirty="0"/>
              <a:t>Week-5</a:t>
            </a:r>
            <a:r>
              <a:rPr lang="en-IN" sz="2400" b="1" u="sng" dirty="0"/>
              <a:t> </a:t>
            </a:r>
          </a:p>
        </p:txBody>
      </p:sp>
      <p:sp>
        <p:nvSpPr>
          <p:cNvPr id="4" name="TextBox 3">
            <a:extLst>
              <a:ext uri="{FF2B5EF4-FFF2-40B4-BE49-F238E27FC236}">
                <a16:creationId xmlns:a16="http://schemas.microsoft.com/office/drawing/2014/main" id="{4CAF0B81-9483-EDBE-E37B-EE59CE80BC73}"/>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pic>
        <p:nvPicPr>
          <p:cNvPr id="8" name="Picture 7">
            <a:extLst>
              <a:ext uri="{FF2B5EF4-FFF2-40B4-BE49-F238E27FC236}">
                <a16:creationId xmlns:a16="http://schemas.microsoft.com/office/drawing/2014/main" id="{7B6C5E7B-0F78-7532-55AB-C3369954EFA4}"/>
              </a:ext>
            </a:extLst>
          </p:cNvPr>
          <p:cNvPicPr>
            <a:picLocks noChangeAspect="1"/>
          </p:cNvPicPr>
          <p:nvPr/>
        </p:nvPicPr>
        <p:blipFill>
          <a:blip r:embed="rId2"/>
          <a:stretch>
            <a:fillRect/>
          </a:stretch>
        </p:blipFill>
        <p:spPr>
          <a:xfrm>
            <a:off x="404398" y="917205"/>
            <a:ext cx="4804970" cy="2689595"/>
          </a:xfrm>
          <a:prstGeom prst="rect">
            <a:avLst/>
          </a:prstGeom>
        </p:spPr>
      </p:pic>
      <p:pic>
        <p:nvPicPr>
          <p:cNvPr id="12" name="Picture 11">
            <a:extLst>
              <a:ext uri="{FF2B5EF4-FFF2-40B4-BE49-F238E27FC236}">
                <a16:creationId xmlns:a16="http://schemas.microsoft.com/office/drawing/2014/main" id="{1505EC19-2EEA-2839-1EFD-1C9516518A83}"/>
              </a:ext>
            </a:extLst>
          </p:cNvPr>
          <p:cNvPicPr>
            <a:picLocks noChangeAspect="1"/>
          </p:cNvPicPr>
          <p:nvPr/>
        </p:nvPicPr>
        <p:blipFill>
          <a:blip r:embed="rId3"/>
          <a:stretch>
            <a:fillRect/>
          </a:stretch>
        </p:blipFill>
        <p:spPr>
          <a:xfrm>
            <a:off x="6096000" y="934496"/>
            <a:ext cx="5092395" cy="2689596"/>
          </a:xfrm>
          <a:prstGeom prst="rect">
            <a:avLst/>
          </a:prstGeom>
        </p:spPr>
      </p:pic>
      <p:pic>
        <p:nvPicPr>
          <p:cNvPr id="15" name="Picture 14">
            <a:extLst>
              <a:ext uri="{FF2B5EF4-FFF2-40B4-BE49-F238E27FC236}">
                <a16:creationId xmlns:a16="http://schemas.microsoft.com/office/drawing/2014/main" id="{C6E20A20-22B0-A936-7773-57D68A5771FF}"/>
              </a:ext>
            </a:extLst>
          </p:cNvPr>
          <p:cNvPicPr>
            <a:picLocks noChangeAspect="1"/>
          </p:cNvPicPr>
          <p:nvPr/>
        </p:nvPicPr>
        <p:blipFill>
          <a:blip r:embed="rId4"/>
          <a:stretch>
            <a:fillRect/>
          </a:stretch>
        </p:blipFill>
        <p:spPr>
          <a:xfrm>
            <a:off x="6111257" y="4089341"/>
            <a:ext cx="5107652" cy="2571366"/>
          </a:xfrm>
          <a:prstGeom prst="rect">
            <a:avLst/>
          </a:prstGeom>
        </p:spPr>
      </p:pic>
      <p:pic>
        <p:nvPicPr>
          <p:cNvPr id="17" name="Picture 16">
            <a:extLst>
              <a:ext uri="{FF2B5EF4-FFF2-40B4-BE49-F238E27FC236}">
                <a16:creationId xmlns:a16="http://schemas.microsoft.com/office/drawing/2014/main" id="{E8330871-3321-9B8D-4A80-A9535CD431D6}"/>
              </a:ext>
            </a:extLst>
          </p:cNvPr>
          <p:cNvPicPr>
            <a:picLocks noChangeAspect="1"/>
          </p:cNvPicPr>
          <p:nvPr/>
        </p:nvPicPr>
        <p:blipFill>
          <a:blip r:embed="rId5"/>
          <a:stretch>
            <a:fillRect/>
          </a:stretch>
        </p:blipFill>
        <p:spPr>
          <a:xfrm>
            <a:off x="404398" y="4306051"/>
            <a:ext cx="4999289" cy="2235259"/>
          </a:xfrm>
          <a:prstGeom prst="rect">
            <a:avLst/>
          </a:prstGeom>
        </p:spPr>
      </p:pic>
      <p:sp>
        <p:nvSpPr>
          <p:cNvPr id="19" name="TextBox 18">
            <a:extLst>
              <a:ext uri="{FF2B5EF4-FFF2-40B4-BE49-F238E27FC236}">
                <a16:creationId xmlns:a16="http://schemas.microsoft.com/office/drawing/2014/main" id="{F15ACF34-FF20-458C-E599-171C4662E046}"/>
              </a:ext>
            </a:extLst>
          </p:cNvPr>
          <p:cNvSpPr txBox="1"/>
          <p:nvPr/>
        </p:nvSpPr>
        <p:spPr>
          <a:xfrm>
            <a:off x="6026150" y="3717265"/>
            <a:ext cx="2451100" cy="338554"/>
          </a:xfrm>
          <a:prstGeom prst="rect">
            <a:avLst/>
          </a:prstGeom>
          <a:noFill/>
        </p:spPr>
        <p:txBody>
          <a:bodyPr wrap="square">
            <a:spAutoFit/>
          </a:bodyPr>
          <a:lstStyle/>
          <a:p>
            <a:r>
              <a:rPr lang="en-IN" sz="1600" b="1" i="0" u="none" strike="noStrike" baseline="0" dirty="0">
                <a:latin typeface="Calibri" panose="020F0502020204030204" pitchFamily="34" charset="0"/>
                <a:ea typeface="Calibri" panose="020F0502020204030204" pitchFamily="34" charset="0"/>
                <a:cs typeface="Calibri" panose="020F0502020204030204" pitchFamily="34" charset="0"/>
              </a:rPr>
              <a:t>Executive Summary </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72011DE-C42E-FAA0-5C8A-E83302901F38}"/>
              </a:ext>
            </a:extLst>
          </p:cNvPr>
          <p:cNvSpPr txBox="1"/>
          <p:nvPr/>
        </p:nvSpPr>
        <p:spPr>
          <a:xfrm>
            <a:off x="342900" y="3848100"/>
            <a:ext cx="6096000" cy="338554"/>
          </a:xfrm>
          <a:prstGeom prst="rect">
            <a:avLst/>
          </a:prstGeom>
          <a:noFill/>
        </p:spPr>
        <p:txBody>
          <a:bodyPr wrap="square">
            <a:spAutoFit/>
          </a:bodyPr>
          <a:lstStyle/>
          <a:p>
            <a:r>
              <a:rPr lang="en-IN" sz="1600" b="1" i="0" u="none" strike="noStrike" baseline="0" dirty="0">
                <a:latin typeface="Calibri" panose="020F0502020204030204" pitchFamily="34" charset="0"/>
                <a:ea typeface="Calibri" panose="020F0502020204030204" pitchFamily="34" charset="0"/>
                <a:cs typeface="Calibri" panose="020F0502020204030204" pitchFamily="34" charset="0"/>
              </a:rPr>
              <a:t>Business Recommendations </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4D6394DF-E2F5-A75C-E116-5D48B97C6170}"/>
              </a:ext>
            </a:extLst>
          </p:cNvPr>
          <p:cNvSpPr txBox="1"/>
          <p:nvPr/>
        </p:nvSpPr>
        <p:spPr>
          <a:xfrm>
            <a:off x="342900" y="501650"/>
            <a:ext cx="3390050" cy="338554"/>
          </a:xfrm>
          <a:prstGeom prst="rect">
            <a:avLst/>
          </a:prstGeom>
          <a:noFill/>
        </p:spPr>
        <p:txBody>
          <a:bodyPr wrap="square">
            <a:spAutoFit/>
          </a:bodyPr>
          <a:lstStyle/>
          <a:p>
            <a:r>
              <a:rPr lang="en-IN" sz="1600" b="1" i="0" u="none" strike="noStrike" baseline="0" dirty="0">
                <a:latin typeface="Calibri" panose="020F0502020204030204" pitchFamily="34" charset="0"/>
                <a:ea typeface="Calibri" panose="020F0502020204030204" pitchFamily="34" charset="0"/>
                <a:cs typeface="Calibri" panose="020F0502020204030204" pitchFamily="34" charset="0"/>
              </a:rPr>
              <a:t>Environmental Cluster </a:t>
            </a:r>
            <a:r>
              <a:rPr lang="en-IN" sz="1600" b="1" dirty="0">
                <a:latin typeface="Calibri" panose="020F0502020204030204" pitchFamily="34" charset="0"/>
                <a:ea typeface="Calibri" panose="020F0502020204030204" pitchFamily="34" charset="0"/>
                <a:cs typeface="Calibri" panose="020F0502020204030204" pitchFamily="34" charset="0"/>
              </a:rPr>
              <a:t>Analysis - 1</a:t>
            </a:r>
            <a:r>
              <a:rPr lang="en-IN" sz="1600" b="1" i="0" u="none" strike="noStrike" baseline="0" dirty="0">
                <a:latin typeface="Calibri" panose="020F0502020204030204" pitchFamily="34" charset="0"/>
                <a:ea typeface="Calibri" panose="020F0502020204030204" pitchFamily="34" charset="0"/>
                <a:cs typeface="Calibri" panose="020F0502020204030204" pitchFamily="34" charset="0"/>
              </a:rPr>
              <a:t> </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516D1E81-5BC9-5526-ACB5-9C76A527D7E4}"/>
              </a:ext>
            </a:extLst>
          </p:cNvPr>
          <p:cNvSpPr txBox="1"/>
          <p:nvPr/>
        </p:nvSpPr>
        <p:spPr>
          <a:xfrm>
            <a:off x="6026150" y="540150"/>
            <a:ext cx="3460750" cy="338554"/>
          </a:xfrm>
          <a:prstGeom prst="rect">
            <a:avLst/>
          </a:prstGeom>
          <a:noFill/>
        </p:spPr>
        <p:txBody>
          <a:bodyPr wrap="square">
            <a:spAutoFit/>
          </a:bodyPr>
          <a:lstStyle/>
          <a:p>
            <a:r>
              <a:rPr lang="en-IN" sz="1600" b="1" i="0" u="none" strike="noStrike" baseline="0" dirty="0">
                <a:latin typeface="Calibri" panose="020F0502020204030204" pitchFamily="34" charset="0"/>
                <a:ea typeface="Calibri" panose="020F0502020204030204" pitchFamily="34" charset="0"/>
                <a:cs typeface="Calibri" panose="020F0502020204030204" pitchFamily="34" charset="0"/>
              </a:rPr>
              <a:t>Environmental Cluster </a:t>
            </a:r>
            <a:r>
              <a:rPr lang="en-IN" sz="1600" b="1" dirty="0">
                <a:latin typeface="Calibri" panose="020F0502020204030204" pitchFamily="34" charset="0"/>
                <a:ea typeface="Calibri" panose="020F0502020204030204" pitchFamily="34" charset="0"/>
                <a:cs typeface="Calibri" panose="020F0502020204030204" pitchFamily="34" charset="0"/>
              </a:rPr>
              <a:t>Analysis - 2</a:t>
            </a:r>
            <a:r>
              <a:rPr lang="en-IN" sz="1600" b="1" i="0" u="none" strike="noStrike" baseline="0" dirty="0">
                <a:latin typeface="Calibri" panose="020F0502020204030204" pitchFamily="34" charset="0"/>
                <a:ea typeface="Calibri" panose="020F0502020204030204" pitchFamily="34" charset="0"/>
                <a:cs typeface="Calibri" panose="020F0502020204030204" pitchFamily="34" charset="0"/>
              </a:rPr>
              <a:t> </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385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783B-2078-0CF6-EFAB-56FE78364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81FB2-269D-ED19-D0F2-ED62C617FE6F}"/>
              </a:ext>
            </a:extLst>
          </p:cNvPr>
          <p:cNvSpPr>
            <a:spLocks noGrp="1"/>
          </p:cNvSpPr>
          <p:nvPr>
            <p:ph type="title"/>
          </p:nvPr>
        </p:nvSpPr>
        <p:spPr>
          <a:xfrm>
            <a:off x="5147480" y="-108130"/>
            <a:ext cx="5069006" cy="654994"/>
          </a:xfrm>
        </p:spPr>
        <p:txBody>
          <a:bodyPr>
            <a:normAutofit/>
          </a:bodyPr>
          <a:lstStyle/>
          <a:p>
            <a:r>
              <a:rPr lang="en-IN" sz="2400" b="1" dirty="0"/>
              <a:t>Week-6</a:t>
            </a:r>
            <a:endParaRPr lang="en-IN" sz="2400" b="1" u="sng" dirty="0"/>
          </a:p>
        </p:txBody>
      </p:sp>
      <p:graphicFrame>
        <p:nvGraphicFramePr>
          <p:cNvPr id="6" name="Table 5">
            <a:extLst>
              <a:ext uri="{FF2B5EF4-FFF2-40B4-BE49-F238E27FC236}">
                <a16:creationId xmlns:a16="http://schemas.microsoft.com/office/drawing/2014/main" id="{8700287A-A7D8-F910-7813-C649A35F798F}"/>
              </a:ext>
            </a:extLst>
          </p:cNvPr>
          <p:cNvGraphicFramePr>
            <a:graphicFrameLocks noGrp="1"/>
          </p:cNvGraphicFramePr>
          <p:nvPr>
            <p:extLst>
              <p:ext uri="{D42A27DB-BD31-4B8C-83A1-F6EECF244321}">
                <p14:modId xmlns:p14="http://schemas.microsoft.com/office/powerpoint/2010/main" val="4106479744"/>
              </p:ext>
            </p:extLst>
          </p:nvPr>
        </p:nvGraphicFramePr>
        <p:xfrm>
          <a:off x="694323" y="450947"/>
          <a:ext cx="3550694" cy="427176"/>
        </p:xfrm>
        <a:graphic>
          <a:graphicData uri="http://schemas.openxmlformats.org/drawingml/2006/table">
            <a:tbl>
              <a:tblPr/>
              <a:tblGrid>
                <a:gridCol w="3550694">
                  <a:extLst>
                    <a:ext uri="{9D8B030D-6E8A-4147-A177-3AD203B41FA5}">
                      <a16:colId xmlns:a16="http://schemas.microsoft.com/office/drawing/2014/main" val="135861639"/>
                    </a:ext>
                  </a:extLst>
                </a:gridCol>
              </a:tblGrid>
              <a:tr h="427176">
                <a:tc>
                  <a:txBody>
                    <a:bodyPr/>
                    <a:lstStyle/>
                    <a:p>
                      <a:pPr algn="ctr"/>
                      <a:r>
                        <a:rPr lang="en-IN" b="1" dirty="0"/>
                        <a:t>Project objective</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8" name="Table 7">
            <a:extLst>
              <a:ext uri="{FF2B5EF4-FFF2-40B4-BE49-F238E27FC236}">
                <a16:creationId xmlns:a16="http://schemas.microsoft.com/office/drawing/2014/main" id="{9CCA0262-9C0B-FA31-B63D-E7595830905B}"/>
              </a:ext>
            </a:extLst>
          </p:cNvPr>
          <p:cNvGraphicFramePr>
            <a:graphicFrameLocks noGrp="1"/>
          </p:cNvGraphicFramePr>
          <p:nvPr>
            <p:extLst>
              <p:ext uri="{D42A27DB-BD31-4B8C-83A1-F6EECF244321}">
                <p14:modId xmlns:p14="http://schemas.microsoft.com/office/powerpoint/2010/main" val="1804743006"/>
              </p:ext>
            </p:extLst>
          </p:nvPr>
        </p:nvGraphicFramePr>
        <p:xfrm>
          <a:off x="685800" y="878123"/>
          <a:ext cx="3559217" cy="5419338"/>
        </p:xfrm>
        <a:graphic>
          <a:graphicData uri="http://schemas.openxmlformats.org/drawingml/2006/table">
            <a:tbl>
              <a:tblPr/>
              <a:tblGrid>
                <a:gridCol w="3559217">
                  <a:extLst>
                    <a:ext uri="{9D8B030D-6E8A-4147-A177-3AD203B41FA5}">
                      <a16:colId xmlns:a16="http://schemas.microsoft.com/office/drawing/2014/main" val="135861639"/>
                    </a:ext>
                  </a:extLst>
                </a:gridCol>
              </a:tblGrid>
              <a:tr h="5419338">
                <a:tc>
                  <a:txBody>
                    <a:bodyPr/>
                    <a:lstStyle/>
                    <a:p>
                      <a:pPr marL="285750" indent="-285750" algn="l">
                        <a:buFont typeface="Wingdings" panose="05000000000000000000" pitchFamily="2" charset="2"/>
                        <a:buChar char="Ø"/>
                      </a:pPr>
                      <a:r>
                        <a:rPr lang="en-IN" sz="16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 Week 6 focused on transforming the analytical outputs developed during Week 5 into a comprehensive Business Intelligence solution using Power BI. The Environmental Intelligence &amp; Sustainability Analytics Platform integrates climate, pollution, forest sustainability, forecasting, scenario analysis, and machine learning outputs into an executive-ready dashboard environment. </a:t>
                      </a:r>
                    </a:p>
                    <a:p>
                      <a:endParaRPr lang="en-IN" sz="16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6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 The completed solution includes six interactive dashboards covering environmental trends, climate change impact assessment, future scenario forecasting, environmental health monitoring, machine learning predictions, and executive-level sustainability reporting. </a:t>
                      </a:r>
                      <a:endParaRPr lang="en-IN" sz="16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0" name="Table 9">
            <a:extLst>
              <a:ext uri="{FF2B5EF4-FFF2-40B4-BE49-F238E27FC236}">
                <a16:creationId xmlns:a16="http://schemas.microsoft.com/office/drawing/2014/main" id="{0F867E3D-72C5-F220-C57E-98593EB22BDD}"/>
              </a:ext>
            </a:extLst>
          </p:cNvPr>
          <p:cNvGraphicFramePr>
            <a:graphicFrameLocks noGrp="1"/>
          </p:cNvGraphicFramePr>
          <p:nvPr>
            <p:extLst>
              <p:ext uri="{D42A27DB-BD31-4B8C-83A1-F6EECF244321}">
                <p14:modId xmlns:p14="http://schemas.microsoft.com/office/powerpoint/2010/main" val="583083454"/>
              </p:ext>
            </p:extLst>
          </p:nvPr>
        </p:nvGraphicFramePr>
        <p:xfrm>
          <a:off x="4236489" y="450950"/>
          <a:ext cx="7730342" cy="427173"/>
        </p:xfrm>
        <a:graphic>
          <a:graphicData uri="http://schemas.openxmlformats.org/drawingml/2006/table">
            <a:tbl>
              <a:tblPr/>
              <a:tblGrid>
                <a:gridCol w="7730342">
                  <a:extLst>
                    <a:ext uri="{9D8B030D-6E8A-4147-A177-3AD203B41FA5}">
                      <a16:colId xmlns:a16="http://schemas.microsoft.com/office/drawing/2014/main" val="135861639"/>
                    </a:ext>
                  </a:extLst>
                </a:gridCol>
              </a:tblGrid>
              <a:tr h="427173">
                <a:tc>
                  <a:txBody>
                    <a:bodyPr/>
                    <a:lstStyle/>
                    <a:p>
                      <a:pPr algn="ctr"/>
                      <a:r>
                        <a:rPr lang="en-IN" dirty="0"/>
                        <a:t>Business Intelligence Solution Delivered</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graphicFrame>
        <p:nvGraphicFramePr>
          <p:cNvPr id="12" name="Table 11">
            <a:extLst>
              <a:ext uri="{FF2B5EF4-FFF2-40B4-BE49-F238E27FC236}">
                <a16:creationId xmlns:a16="http://schemas.microsoft.com/office/drawing/2014/main" id="{F748B1E5-B161-3E2F-D711-D5BF81E825F0}"/>
              </a:ext>
            </a:extLst>
          </p:cNvPr>
          <p:cNvGraphicFramePr>
            <a:graphicFrameLocks noGrp="1"/>
          </p:cNvGraphicFramePr>
          <p:nvPr>
            <p:extLst>
              <p:ext uri="{D42A27DB-BD31-4B8C-83A1-F6EECF244321}">
                <p14:modId xmlns:p14="http://schemas.microsoft.com/office/powerpoint/2010/main" val="3644430960"/>
              </p:ext>
            </p:extLst>
          </p:nvPr>
        </p:nvGraphicFramePr>
        <p:xfrm>
          <a:off x="4279900" y="878123"/>
          <a:ext cx="3658557" cy="5344877"/>
        </p:xfrm>
        <a:graphic>
          <a:graphicData uri="http://schemas.openxmlformats.org/drawingml/2006/table">
            <a:tbl>
              <a:tblPr/>
              <a:tblGrid>
                <a:gridCol w="3658557">
                  <a:extLst>
                    <a:ext uri="{9D8B030D-6E8A-4147-A177-3AD203B41FA5}">
                      <a16:colId xmlns:a16="http://schemas.microsoft.com/office/drawing/2014/main" val="135861639"/>
                    </a:ext>
                  </a:extLst>
                </a:gridCol>
              </a:tblGrid>
              <a:tr h="5344877">
                <a:tc>
                  <a:txBody>
                    <a:bodyPr/>
                    <a:lstStyle/>
                    <a:p>
                      <a:pPr marL="285750" indent="-285750">
                        <a:buFont typeface="Wingdings" panose="05000000000000000000" pitchFamily="2" charset="2"/>
                        <a:buChar char="Ø"/>
                      </a:pPr>
                      <a:r>
                        <a:rPr lang="en-US"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Week 6 represents the visualization and business intelligence phase of the Environmental Intelligence &amp; Sustainability Analytics Platform. </a:t>
                      </a:r>
                    </a:p>
                    <a:p>
                      <a:endParaRPr lang="en-IN"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 Power BI was used to create an integrated environmental analytics platform capable of presenting historical trends, sustainability metrics, forecasting outputs, geographic insights, and machine learning results in a user-friendly format. </a:t>
                      </a:r>
                    </a:p>
                    <a:p>
                      <a:endParaRPr lang="en-IN" sz="1700" b="0" i="0" u="none" strike="noStrike" kern="1200" baseline="0" dirty="0">
                        <a:solidFill>
                          <a:schemeClr val="tx1"/>
                        </a:solidFill>
                        <a:latin typeface="+mn-lt"/>
                        <a:ea typeface="+mn-ea"/>
                        <a:cs typeface="+mn-cs"/>
                      </a:endParaRPr>
                    </a:p>
                    <a:p>
                      <a:pPr marL="285750" indent="-285750">
                        <a:buFont typeface="Wingdings" panose="05000000000000000000" pitchFamily="2" charset="2"/>
                        <a:buChar char="Ø"/>
                      </a:pPr>
                      <a:r>
                        <a:rPr lang="en-US"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 The objective of Week 6 was to transform analytical outputs into interactive dashboards that support executive decision-making. </a:t>
                      </a:r>
                      <a:endParaRPr lang="en-IN"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009500"/>
                  </a:ext>
                </a:extLst>
              </a:tr>
            </a:tbl>
          </a:graphicData>
        </a:graphic>
      </p:graphicFrame>
      <p:graphicFrame>
        <p:nvGraphicFramePr>
          <p:cNvPr id="16" name="Table 15">
            <a:extLst>
              <a:ext uri="{FF2B5EF4-FFF2-40B4-BE49-F238E27FC236}">
                <a16:creationId xmlns:a16="http://schemas.microsoft.com/office/drawing/2014/main" id="{26EDD823-2DF4-E809-7D3A-A450DBDE6B32}"/>
              </a:ext>
            </a:extLst>
          </p:cNvPr>
          <p:cNvGraphicFramePr>
            <a:graphicFrameLocks noGrp="1"/>
          </p:cNvGraphicFramePr>
          <p:nvPr>
            <p:extLst>
              <p:ext uri="{D42A27DB-BD31-4B8C-83A1-F6EECF244321}">
                <p14:modId xmlns:p14="http://schemas.microsoft.com/office/powerpoint/2010/main" val="660558121"/>
              </p:ext>
            </p:extLst>
          </p:nvPr>
        </p:nvGraphicFramePr>
        <p:xfrm>
          <a:off x="7955518" y="878123"/>
          <a:ext cx="4011313" cy="5401598"/>
        </p:xfrm>
        <a:graphic>
          <a:graphicData uri="http://schemas.openxmlformats.org/drawingml/2006/table">
            <a:tbl>
              <a:tblPr/>
              <a:tblGrid>
                <a:gridCol w="4011313">
                  <a:extLst>
                    <a:ext uri="{9D8B030D-6E8A-4147-A177-3AD203B41FA5}">
                      <a16:colId xmlns:a16="http://schemas.microsoft.com/office/drawing/2014/main" val="135861639"/>
                    </a:ext>
                  </a:extLst>
                </a:gridCol>
              </a:tblGrid>
              <a:tr h="5401598">
                <a:tc>
                  <a:txBody>
                    <a:bodyPr/>
                    <a:lstStyle/>
                    <a:p>
                      <a:pPr marL="360000" indent="-285750">
                        <a:buFont typeface="Wingdings" panose="05000000000000000000" pitchFamily="2" charset="2"/>
                        <a:buChar char="Ø"/>
                      </a:pPr>
                      <a:r>
                        <a:rPr lang="en-US"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Develop interactive Power BI dashboards.</a:t>
                      </a:r>
                    </a:p>
                    <a:p>
                      <a:pPr marL="360000" indent="-285750">
                        <a:buFont typeface="Wingdings" panose="05000000000000000000" pitchFamily="2" charset="2"/>
                        <a:buChar char="Ø"/>
                      </a:pPr>
                      <a:r>
                        <a:rPr lang="en-IN"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Create executive-level KPI dashboards. </a:t>
                      </a:r>
                    </a:p>
                    <a:p>
                      <a:pPr marL="360000" indent="-285750">
                        <a:buFont typeface="Wingdings" panose="05000000000000000000" pitchFamily="2" charset="2"/>
                        <a:buChar char="Ø"/>
                      </a:pPr>
                      <a:r>
                        <a:rPr lang="en-US"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Build geographic and map visualizations.</a:t>
                      </a:r>
                    </a:p>
                    <a:p>
                      <a:pPr marL="360000" indent="-285750">
                        <a:buFont typeface="Wingdings" panose="05000000000000000000" pitchFamily="2" charset="2"/>
                        <a:buChar char="Ø"/>
                      </a:pPr>
                      <a:r>
                        <a:rPr lang="en-US"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Implement machine learning result visualization. </a:t>
                      </a:r>
                    </a:p>
                    <a:p>
                      <a:pPr marL="360000" indent="-285750">
                        <a:buFont typeface="Wingdings" panose="05000000000000000000" pitchFamily="2" charset="2"/>
                        <a:buChar char="Ø"/>
                      </a:pPr>
                      <a:r>
                        <a:rPr lang="en-IN"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Present environmental forecasting results. </a:t>
                      </a:r>
                    </a:p>
                    <a:p>
                      <a:pPr marL="360000" indent="-285750">
                        <a:buFont typeface="Wingdings" panose="05000000000000000000" pitchFamily="2" charset="2"/>
                        <a:buChar char="Ø"/>
                      </a:pPr>
                      <a:r>
                        <a:rPr lang="en-IN"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Support executive sustainability decision-making. </a:t>
                      </a:r>
                    </a:p>
                    <a:p>
                      <a:pPr marL="360000" indent="-285750">
                        <a:buFont typeface="Wingdings" panose="05000000000000000000" pitchFamily="2" charset="2"/>
                        <a:buChar char="Ø"/>
                      </a:pPr>
                      <a:r>
                        <a:rPr lang="en-US"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Create integrated environmental intelligence reporting. </a:t>
                      </a:r>
                    </a:p>
                    <a:p>
                      <a:pPr marL="360000" indent="-285750">
                        <a:buFont typeface="Wingdings" panose="05000000000000000000" pitchFamily="2" charset="2"/>
                        <a:buChar char="Ø"/>
                      </a:pPr>
                      <a:r>
                        <a:rPr lang="en-US" sz="17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Deliver an end-to-end business intelligence solution. </a:t>
                      </a:r>
                    </a:p>
                    <a:p>
                      <a:pPr marL="0" indent="0">
                        <a:buFont typeface="Arial" panose="020B0604020202020204" pitchFamily="34" charset="0"/>
                        <a:buNone/>
                      </a:pPr>
                      <a:endParaRPr lang="en-IN" sz="180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30009500"/>
                  </a:ext>
                </a:extLst>
              </a:tr>
            </a:tbl>
          </a:graphicData>
        </a:graphic>
      </p:graphicFrame>
    </p:spTree>
    <p:extLst>
      <p:ext uri="{BB962C8B-B14F-4D97-AF65-F5344CB8AC3E}">
        <p14:creationId xmlns:p14="http://schemas.microsoft.com/office/powerpoint/2010/main" val="1374892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3C69B-E9FE-172F-8B27-528E7A3FC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7566D-B9EC-40D3-3F78-2EE2735B8556}"/>
              </a:ext>
            </a:extLst>
          </p:cNvPr>
          <p:cNvSpPr>
            <a:spLocks noGrp="1"/>
          </p:cNvSpPr>
          <p:nvPr>
            <p:ph type="title"/>
          </p:nvPr>
        </p:nvSpPr>
        <p:spPr>
          <a:xfrm>
            <a:off x="1502394" y="20911"/>
            <a:ext cx="5069006" cy="654994"/>
          </a:xfrm>
        </p:spPr>
        <p:txBody>
          <a:bodyPr>
            <a:normAutofit/>
          </a:bodyPr>
          <a:lstStyle/>
          <a:p>
            <a:r>
              <a:rPr lang="en-IN" sz="2400" b="1" dirty="0"/>
              <a:t>Week-6</a:t>
            </a:r>
            <a:r>
              <a:rPr lang="en-IN" sz="2400" b="1" u="sng" dirty="0"/>
              <a:t> </a:t>
            </a:r>
          </a:p>
        </p:txBody>
      </p:sp>
      <p:sp>
        <p:nvSpPr>
          <p:cNvPr id="4" name="TextBox 3">
            <a:extLst>
              <a:ext uri="{FF2B5EF4-FFF2-40B4-BE49-F238E27FC236}">
                <a16:creationId xmlns:a16="http://schemas.microsoft.com/office/drawing/2014/main" id="{C37E859C-970F-ECA3-1476-52458DF273F9}"/>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pic>
        <p:nvPicPr>
          <p:cNvPr id="6" name="Picture 5">
            <a:extLst>
              <a:ext uri="{FF2B5EF4-FFF2-40B4-BE49-F238E27FC236}">
                <a16:creationId xmlns:a16="http://schemas.microsoft.com/office/drawing/2014/main" id="{FE62D44C-0B58-E479-F108-B540C92D3E74}"/>
              </a:ext>
            </a:extLst>
          </p:cNvPr>
          <p:cNvPicPr>
            <a:picLocks noChangeAspect="1"/>
          </p:cNvPicPr>
          <p:nvPr/>
        </p:nvPicPr>
        <p:blipFill>
          <a:blip r:embed="rId2"/>
          <a:stretch>
            <a:fillRect/>
          </a:stretch>
        </p:blipFill>
        <p:spPr>
          <a:xfrm>
            <a:off x="4997450" y="675905"/>
            <a:ext cx="5429250" cy="5748218"/>
          </a:xfrm>
          <a:prstGeom prst="rect">
            <a:avLst/>
          </a:prstGeom>
        </p:spPr>
      </p:pic>
      <p:sp>
        <p:nvSpPr>
          <p:cNvPr id="10" name="TextBox 9">
            <a:extLst>
              <a:ext uri="{FF2B5EF4-FFF2-40B4-BE49-F238E27FC236}">
                <a16:creationId xmlns:a16="http://schemas.microsoft.com/office/drawing/2014/main" id="{CCDF3942-DA3D-B182-580B-85316B191698}"/>
              </a:ext>
            </a:extLst>
          </p:cNvPr>
          <p:cNvSpPr txBox="1"/>
          <p:nvPr/>
        </p:nvSpPr>
        <p:spPr>
          <a:xfrm>
            <a:off x="1384300" y="2889162"/>
            <a:ext cx="3295650" cy="369332"/>
          </a:xfrm>
          <a:prstGeom prst="rect">
            <a:avLst/>
          </a:prstGeom>
          <a:noFill/>
        </p:spPr>
        <p:txBody>
          <a:bodyPr wrap="square" rtlCol="0">
            <a:spAutoFit/>
          </a:bodyPr>
          <a:lstStyle/>
          <a:p>
            <a:r>
              <a:rPr lang="en-IN" b="1" dirty="0"/>
              <a:t>Architecture Overview </a:t>
            </a:r>
            <a:endParaRPr lang="en-IN" dirty="0"/>
          </a:p>
        </p:txBody>
      </p:sp>
    </p:spTree>
    <p:extLst>
      <p:ext uri="{BB962C8B-B14F-4D97-AF65-F5344CB8AC3E}">
        <p14:creationId xmlns:p14="http://schemas.microsoft.com/office/powerpoint/2010/main" val="3145161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846ED-2B04-AC9D-E158-C6B29B2128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BC253-E110-95C7-B830-F8CCF1E1C91F}"/>
              </a:ext>
            </a:extLst>
          </p:cNvPr>
          <p:cNvSpPr>
            <a:spLocks noGrp="1"/>
          </p:cNvSpPr>
          <p:nvPr>
            <p:ph type="title"/>
          </p:nvPr>
        </p:nvSpPr>
        <p:spPr>
          <a:xfrm>
            <a:off x="1502394" y="20911"/>
            <a:ext cx="5069006" cy="654994"/>
          </a:xfrm>
        </p:spPr>
        <p:txBody>
          <a:bodyPr>
            <a:normAutofit/>
          </a:bodyPr>
          <a:lstStyle/>
          <a:p>
            <a:r>
              <a:rPr lang="en-IN" sz="2400" b="1" dirty="0"/>
              <a:t>Week-6</a:t>
            </a:r>
            <a:r>
              <a:rPr lang="en-IN" sz="2400" b="1" u="sng" dirty="0"/>
              <a:t> </a:t>
            </a:r>
          </a:p>
        </p:txBody>
      </p:sp>
      <p:sp>
        <p:nvSpPr>
          <p:cNvPr id="4" name="TextBox 3">
            <a:extLst>
              <a:ext uri="{FF2B5EF4-FFF2-40B4-BE49-F238E27FC236}">
                <a16:creationId xmlns:a16="http://schemas.microsoft.com/office/drawing/2014/main" id="{08A711F9-B8A1-1D83-4F62-0761D18C2DB7}"/>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pic>
        <p:nvPicPr>
          <p:cNvPr id="5" name="Picture 4">
            <a:extLst>
              <a:ext uri="{FF2B5EF4-FFF2-40B4-BE49-F238E27FC236}">
                <a16:creationId xmlns:a16="http://schemas.microsoft.com/office/drawing/2014/main" id="{9F0BABED-75DB-9767-68B8-E8DC84CAD226}"/>
              </a:ext>
            </a:extLst>
          </p:cNvPr>
          <p:cNvPicPr>
            <a:picLocks noChangeAspect="1"/>
          </p:cNvPicPr>
          <p:nvPr/>
        </p:nvPicPr>
        <p:blipFill>
          <a:blip r:embed="rId2"/>
          <a:stretch>
            <a:fillRect/>
          </a:stretch>
        </p:blipFill>
        <p:spPr>
          <a:xfrm>
            <a:off x="239044" y="1032436"/>
            <a:ext cx="4955256" cy="2673103"/>
          </a:xfrm>
          <a:prstGeom prst="rect">
            <a:avLst/>
          </a:prstGeom>
        </p:spPr>
      </p:pic>
      <p:sp>
        <p:nvSpPr>
          <p:cNvPr id="7" name="TextBox 6">
            <a:extLst>
              <a:ext uri="{FF2B5EF4-FFF2-40B4-BE49-F238E27FC236}">
                <a16:creationId xmlns:a16="http://schemas.microsoft.com/office/drawing/2014/main" id="{AEAAE6F9-FC67-8A54-9F21-FEFE2987EAD5}"/>
              </a:ext>
            </a:extLst>
          </p:cNvPr>
          <p:cNvSpPr txBox="1"/>
          <p:nvPr/>
        </p:nvSpPr>
        <p:spPr>
          <a:xfrm>
            <a:off x="239044" y="647048"/>
            <a:ext cx="3412206" cy="338554"/>
          </a:xfrm>
          <a:prstGeom prst="rect">
            <a:avLst/>
          </a:prstGeom>
          <a:noFill/>
        </p:spPr>
        <p:txBody>
          <a:bodyPr wrap="square">
            <a:spAutoFit/>
          </a:bodyPr>
          <a:lstStyle/>
          <a:p>
            <a:r>
              <a:rPr lang="en-IN" sz="1600" b="1" i="0" u="none" strike="noStrike" baseline="0" dirty="0">
                <a:latin typeface="Calibri" panose="020F0502020204030204" pitchFamily="34" charset="0"/>
                <a:ea typeface="Calibri" panose="020F0502020204030204" pitchFamily="34" charset="0"/>
                <a:cs typeface="Calibri" panose="020F0502020204030204" pitchFamily="34" charset="0"/>
              </a:rPr>
              <a:t>Executive Command Center </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725B03B-174F-E580-6DDA-566361D98230}"/>
              </a:ext>
            </a:extLst>
          </p:cNvPr>
          <p:cNvSpPr txBox="1"/>
          <p:nvPr/>
        </p:nvSpPr>
        <p:spPr>
          <a:xfrm>
            <a:off x="5989980" y="647048"/>
            <a:ext cx="3689539" cy="338554"/>
          </a:xfrm>
          <a:prstGeom prst="rect">
            <a:avLst/>
          </a:prstGeom>
          <a:noFill/>
        </p:spPr>
        <p:txBody>
          <a:bodyPr wrap="square">
            <a:spAutoFit/>
          </a:bodyPr>
          <a:lstStyle/>
          <a:p>
            <a:r>
              <a:rPr lang="en-IN" sz="1600" b="1" i="1" u="none" strike="noStrike" baseline="0" dirty="0">
                <a:latin typeface="Calibri" panose="020F0502020204030204" pitchFamily="34" charset="0"/>
                <a:ea typeface="Calibri" panose="020F0502020204030204" pitchFamily="34" charset="0"/>
                <a:cs typeface="Calibri" panose="020F0502020204030204" pitchFamily="34" charset="0"/>
              </a:rPr>
              <a:t>Environmental </a:t>
            </a:r>
            <a:r>
              <a:rPr lang="en-IN" sz="1600" b="1" dirty="0">
                <a:latin typeface="Calibri" panose="020F0502020204030204" pitchFamily="34" charset="0"/>
                <a:ea typeface="Calibri" panose="020F0502020204030204" pitchFamily="34" charset="0"/>
                <a:cs typeface="Calibri" panose="020F0502020204030204" pitchFamily="34" charset="0"/>
              </a:rPr>
              <a:t>Trends</a:t>
            </a:r>
            <a:r>
              <a:rPr lang="en-IN" sz="1600" b="1" i="1" u="none" strike="noStrike" baseline="0" dirty="0">
                <a:latin typeface="Calibri" panose="020F0502020204030204" pitchFamily="34" charset="0"/>
                <a:ea typeface="Calibri" panose="020F0502020204030204" pitchFamily="34" charset="0"/>
                <a:cs typeface="Calibri" panose="020F0502020204030204" pitchFamily="34" charset="0"/>
              </a:rPr>
              <a:t> Dashboard </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E4438346-6C82-84E0-BC30-05C790EFA668}"/>
              </a:ext>
            </a:extLst>
          </p:cNvPr>
          <p:cNvPicPr>
            <a:picLocks noChangeAspect="1"/>
          </p:cNvPicPr>
          <p:nvPr/>
        </p:nvPicPr>
        <p:blipFill>
          <a:blip r:embed="rId3"/>
          <a:stretch>
            <a:fillRect/>
          </a:stretch>
        </p:blipFill>
        <p:spPr>
          <a:xfrm>
            <a:off x="5994400" y="1032437"/>
            <a:ext cx="4955256" cy="2627014"/>
          </a:xfrm>
          <a:prstGeom prst="rect">
            <a:avLst/>
          </a:prstGeom>
        </p:spPr>
      </p:pic>
      <p:sp>
        <p:nvSpPr>
          <p:cNvPr id="16" name="TextBox 15">
            <a:extLst>
              <a:ext uri="{FF2B5EF4-FFF2-40B4-BE49-F238E27FC236}">
                <a16:creationId xmlns:a16="http://schemas.microsoft.com/office/drawing/2014/main" id="{87468E71-4B99-7B7B-4DBA-033A907D6557}"/>
              </a:ext>
            </a:extLst>
          </p:cNvPr>
          <p:cNvSpPr txBox="1"/>
          <p:nvPr/>
        </p:nvSpPr>
        <p:spPr>
          <a:xfrm>
            <a:off x="165100" y="3785071"/>
            <a:ext cx="6096000" cy="276999"/>
          </a:xfrm>
          <a:prstGeom prst="rect">
            <a:avLst/>
          </a:prstGeom>
          <a:noFill/>
        </p:spPr>
        <p:txBody>
          <a:bodyPr wrap="square">
            <a:spAutoFit/>
          </a:bodyPr>
          <a:lstStyle/>
          <a:p>
            <a:r>
              <a:rPr lang="en-IN" sz="1200" b="1" i="0" u="none" strike="noStrike" baseline="0" dirty="0"/>
              <a:t>Climate Change Impact Dashboard </a:t>
            </a:r>
            <a:endParaRPr lang="en-IN" b="1" dirty="0"/>
          </a:p>
        </p:txBody>
      </p:sp>
      <p:pic>
        <p:nvPicPr>
          <p:cNvPr id="20" name="Picture 19">
            <a:extLst>
              <a:ext uri="{FF2B5EF4-FFF2-40B4-BE49-F238E27FC236}">
                <a16:creationId xmlns:a16="http://schemas.microsoft.com/office/drawing/2014/main" id="{1F2392B5-230D-DB1C-7578-89BB06667382}"/>
              </a:ext>
            </a:extLst>
          </p:cNvPr>
          <p:cNvPicPr>
            <a:picLocks noChangeAspect="1"/>
          </p:cNvPicPr>
          <p:nvPr/>
        </p:nvPicPr>
        <p:blipFill>
          <a:blip r:embed="rId4"/>
          <a:stretch>
            <a:fillRect/>
          </a:stretch>
        </p:blipFill>
        <p:spPr>
          <a:xfrm>
            <a:off x="239044" y="4094766"/>
            <a:ext cx="4823755" cy="2634960"/>
          </a:xfrm>
          <a:prstGeom prst="rect">
            <a:avLst/>
          </a:prstGeom>
        </p:spPr>
      </p:pic>
      <p:sp>
        <p:nvSpPr>
          <p:cNvPr id="27" name="TextBox 26">
            <a:extLst>
              <a:ext uri="{FF2B5EF4-FFF2-40B4-BE49-F238E27FC236}">
                <a16:creationId xmlns:a16="http://schemas.microsoft.com/office/drawing/2014/main" id="{DABBC434-E4AC-7DBF-C7FF-34F08F749AA0}"/>
              </a:ext>
            </a:extLst>
          </p:cNvPr>
          <p:cNvSpPr txBox="1"/>
          <p:nvPr/>
        </p:nvSpPr>
        <p:spPr>
          <a:xfrm>
            <a:off x="5930900" y="3726754"/>
            <a:ext cx="6096000" cy="307777"/>
          </a:xfrm>
          <a:prstGeom prst="rect">
            <a:avLst/>
          </a:prstGeom>
          <a:noFill/>
        </p:spPr>
        <p:txBody>
          <a:bodyPr wrap="square">
            <a:spAutoFit/>
          </a:bodyPr>
          <a:lstStyle/>
          <a:p>
            <a:r>
              <a:rPr lang="en-IN" sz="1400" b="1" i="0" u="none" strike="noStrike" baseline="0" dirty="0">
                <a:latin typeface="Calibri" panose="020F0502020204030204" pitchFamily="34" charset="0"/>
                <a:ea typeface="Calibri" panose="020F0502020204030204" pitchFamily="34" charset="0"/>
                <a:cs typeface="Calibri" panose="020F0502020204030204" pitchFamily="34" charset="0"/>
              </a:rPr>
              <a:t>Future Climate </a:t>
            </a:r>
            <a:r>
              <a:rPr lang="en-IN" sz="1400" b="1" dirty="0">
                <a:latin typeface="Calibri" panose="020F0502020204030204" pitchFamily="34" charset="0"/>
                <a:ea typeface="Calibri" panose="020F0502020204030204" pitchFamily="34" charset="0"/>
                <a:cs typeface="Calibri" panose="020F0502020204030204" pitchFamily="34" charset="0"/>
              </a:rPr>
              <a:t>Scenario</a:t>
            </a:r>
            <a:r>
              <a:rPr lang="en-IN" sz="1400" b="1" i="0" u="none" strike="noStrike" baseline="0" dirty="0">
                <a:latin typeface="Calibri" panose="020F0502020204030204" pitchFamily="34" charset="0"/>
                <a:ea typeface="Calibri" panose="020F0502020204030204" pitchFamily="34" charset="0"/>
                <a:cs typeface="Calibri" panose="020F0502020204030204" pitchFamily="34" charset="0"/>
              </a:rPr>
              <a:t> Analysis </a:t>
            </a:r>
            <a:endParaRPr lang="en-IN" sz="1400" b="1" dirty="0">
              <a:latin typeface="Calibri" panose="020F0502020204030204" pitchFamily="34" charset="0"/>
              <a:ea typeface="Calibri" panose="020F0502020204030204" pitchFamily="34" charset="0"/>
              <a:cs typeface="Calibri" panose="020F0502020204030204" pitchFamily="34" charset="0"/>
            </a:endParaRPr>
          </a:p>
        </p:txBody>
      </p:sp>
      <p:pic>
        <p:nvPicPr>
          <p:cNvPr id="29" name="Picture 28">
            <a:extLst>
              <a:ext uri="{FF2B5EF4-FFF2-40B4-BE49-F238E27FC236}">
                <a16:creationId xmlns:a16="http://schemas.microsoft.com/office/drawing/2014/main" id="{80865B8C-3E3A-2236-9F30-801F822C5985}"/>
              </a:ext>
            </a:extLst>
          </p:cNvPr>
          <p:cNvPicPr>
            <a:picLocks noChangeAspect="1"/>
          </p:cNvPicPr>
          <p:nvPr/>
        </p:nvPicPr>
        <p:blipFill>
          <a:blip r:embed="rId5"/>
          <a:stretch>
            <a:fillRect/>
          </a:stretch>
        </p:blipFill>
        <p:spPr>
          <a:xfrm>
            <a:off x="5989980" y="4083751"/>
            <a:ext cx="4768879" cy="2684866"/>
          </a:xfrm>
          <a:prstGeom prst="rect">
            <a:avLst/>
          </a:prstGeom>
        </p:spPr>
      </p:pic>
    </p:spTree>
    <p:extLst>
      <p:ext uri="{BB962C8B-B14F-4D97-AF65-F5344CB8AC3E}">
        <p14:creationId xmlns:p14="http://schemas.microsoft.com/office/powerpoint/2010/main" val="1247159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C88C5-DC22-4EF3-95C8-3F84CF461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CA093-686C-DD6D-E729-E46D13FFEC8D}"/>
              </a:ext>
            </a:extLst>
          </p:cNvPr>
          <p:cNvSpPr>
            <a:spLocks noGrp="1"/>
          </p:cNvSpPr>
          <p:nvPr>
            <p:ph type="title"/>
          </p:nvPr>
        </p:nvSpPr>
        <p:spPr>
          <a:xfrm>
            <a:off x="1502394" y="20911"/>
            <a:ext cx="5069006" cy="654994"/>
          </a:xfrm>
        </p:spPr>
        <p:txBody>
          <a:bodyPr>
            <a:normAutofit/>
          </a:bodyPr>
          <a:lstStyle/>
          <a:p>
            <a:r>
              <a:rPr lang="en-IN" sz="2400" b="1" dirty="0"/>
              <a:t>Week-6</a:t>
            </a:r>
            <a:r>
              <a:rPr lang="en-IN" sz="2400" b="1" u="sng" dirty="0"/>
              <a:t> </a:t>
            </a:r>
          </a:p>
        </p:txBody>
      </p:sp>
      <p:sp>
        <p:nvSpPr>
          <p:cNvPr id="4" name="TextBox 3">
            <a:extLst>
              <a:ext uri="{FF2B5EF4-FFF2-40B4-BE49-F238E27FC236}">
                <a16:creationId xmlns:a16="http://schemas.microsoft.com/office/drawing/2014/main" id="{525C46E0-3710-53E3-A3B4-B5807CA4ECE3}"/>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sp>
        <p:nvSpPr>
          <p:cNvPr id="6" name="TextBox 5">
            <a:extLst>
              <a:ext uri="{FF2B5EF4-FFF2-40B4-BE49-F238E27FC236}">
                <a16:creationId xmlns:a16="http://schemas.microsoft.com/office/drawing/2014/main" id="{8346E8D7-C94F-7287-80B0-8510625A3081}"/>
              </a:ext>
            </a:extLst>
          </p:cNvPr>
          <p:cNvSpPr txBox="1"/>
          <p:nvPr/>
        </p:nvSpPr>
        <p:spPr>
          <a:xfrm>
            <a:off x="304800" y="657289"/>
            <a:ext cx="6096000" cy="307777"/>
          </a:xfrm>
          <a:prstGeom prst="rect">
            <a:avLst/>
          </a:prstGeom>
          <a:noFill/>
        </p:spPr>
        <p:txBody>
          <a:bodyPr wrap="square">
            <a:spAutoFit/>
          </a:bodyPr>
          <a:lstStyle/>
          <a:p>
            <a:r>
              <a:rPr lang="en-IN" sz="1400" b="1" i="0" u="none" strike="noStrike" baseline="0" dirty="0"/>
              <a:t>Environmental Health Dashboard </a:t>
            </a:r>
            <a:endParaRPr lang="en-IN" sz="1400" b="1" dirty="0"/>
          </a:p>
        </p:txBody>
      </p:sp>
      <p:pic>
        <p:nvPicPr>
          <p:cNvPr id="9" name="Picture 8">
            <a:extLst>
              <a:ext uri="{FF2B5EF4-FFF2-40B4-BE49-F238E27FC236}">
                <a16:creationId xmlns:a16="http://schemas.microsoft.com/office/drawing/2014/main" id="{7EAE1DA1-C30C-DF82-9CA6-36D833D30CFE}"/>
              </a:ext>
            </a:extLst>
          </p:cNvPr>
          <p:cNvPicPr>
            <a:picLocks noChangeAspect="1"/>
          </p:cNvPicPr>
          <p:nvPr/>
        </p:nvPicPr>
        <p:blipFill>
          <a:blip r:embed="rId2"/>
          <a:stretch>
            <a:fillRect/>
          </a:stretch>
        </p:blipFill>
        <p:spPr>
          <a:xfrm>
            <a:off x="226414" y="983682"/>
            <a:ext cx="4764685" cy="2694316"/>
          </a:xfrm>
          <a:prstGeom prst="rect">
            <a:avLst/>
          </a:prstGeom>
        </p:spPr>
      </p:pic>
      <p:sp>
        <p:nvSpPr>
          <p:cNvPr id="12" name="TextBox 11">
            <a:extLst>
              <a:ext uri="{FF2B5EF4-FFF2-40B4-BE49-F238E27FC236}">
                <a16:creationId xmlns:a16="http://schemas.microsoft.com/office/drawing/2014/main" id="{35E96E18-B7D0-B820-1D5A-8169D72289FB}"/>
              </a:ext>
            </a:extLst>
          </p:cNvPr>
          <p:cNvSpPr txBox="1"/>
          <p:nvPr/>
        </p:nvSpPr>
        <p:spPr>
          <a:xfrm>
            <a:off x="5791200" y="638673"/>
            <a:ext cx="6096000" cy="307777"/>
          </a:xfrm>
          <a:prstGeom prst="rect">
            <a:avLst/>
          </a:prstGeom>
          <a:noFill/>
        </p:spPr>
        <p:txBody>
          <a:bodyPr wrap="square">
            <a:spAutoFit/>
          </a:bodyPr>
          <a:lstStyle/>
          <a:p>
            <a:r>
              <a:rPr lang="en-US" sz="1400" b="1" i="1" u="none" strike="noStrike" baseline="0" dirty="0"/>
              <a:t>Predictive Analytics &amp; Machine Learning Dashboard </a:t>
            </a:r>
            <a:endParaRPr lang="en-IN" sz="1400" dirty="0"/>
          </a:p>
        </p:txBody>
      </p:sp>
      <p:pic>
        <p:nvPicPr>
          <p:cNvPr id="15" name="Picture 14">
            <a:extLst>
              <a:ext uri="{FF2B5EF4-FFF2-40B4-BE49-F238E27FC236}">
                <a16:creationId xmlns:a16="http://schemas.microsoft.com/office/drawing/2014/main" id="{6FC2556D-D758-F29D-01C0-7BAC5F3ED5E0}"/>
              </a:ext>
            </a:extLst>
          </p:cNvPr>
          <p:cNvPicPr>
            <a:picLocks noChangeAspect="1"/>
          </p:cNvPicPr>
          <p:nvPr/>
        </p:nvPicPr>
        <p:blipFill>
          <a:blip r:embed="rId3"/>
          <a:stretch>
            <a:fillRect/>
          </a:stretch>
        </p:blipFill>
        <p:spPr>
          <a:xfrm>
            <a:off x="5948119" y="1026621"/>
            <a:ext cx="4545171" cy="2626715"/>
          </a:xfrm>
          <a:prstGeom prst="rect">
            <a:avLst/>
          </a:prstGeom>
        </p:spPr>
      </p:pic>
      <p:sp>
        <p:nvSpPr>
          <p:cNvPr id="17" name="TextBox 16">
            <a:extLst>
              <a:ext uri="{FF2B5EF4-FFF2-40B4-BE49-F238E27FC236}">
                <a16:creationId xmlns:a16="http://schemas.microsoft.com/office/drawing/2014/main" id="{AFFA093B-3E19-2038-1B3A-A62710FCBC74}"/>
              </a:ext>
            </a:extLst>
          </p:cNvPr>
          <p:cNvSpPr txBox="1"/>
          <p:nvPr/>
        </p:nvSpPr>
        <p:spPr>
          <a:xfrm>
            <a:off x="226414" y="3758169"/>
            <a:ext cx="11163300" cy="338554"/>
          </a:xfrm>
          <a:prstGeom prst="rect">
            <a:avLst/>
          </a:prstGeom>
          <a:noFill/>
        </p:spPr>
        <p:txBody>
          <a:bodyPr wrap="square" rtlCol="0">
            <a:spAutoFit/>
          </a:bodyPr>
          <a:lstStyle/>
          <a:p>
            <a:r>
              <a:rPr lang="en-IN" sz="1600" b="1" u="sng" dirty="0"/>
              <a:t>Key findings</a:t>
            </a:r>
            <a:r>
              <a:rPr lang="en-IN" sz="1600" b="1" dirty="0"/>
              <a:t> </a:t>
            </a:r>
          </a:p>
        </p:txBody>
      </p:sp>
      <p:sp>
        <p:nvSpPr>
          <p:cNvPr id="18" name="TextBox 17">
            <a:extLst>
              <a:ext uri="{FF2B5EF4-FFF2-40B4-BE49-F238E27FC236}">
                <a16:creationId xmlns:a16="http://schemas.microsoft.com/office/drawing/2014/main" id="{3B37FE1B-E063-1839-8858-3B791109D944}"/>
              </a:ext>
            </a:extLst>
          </p:cNvPr>
          <p:cNvSpPr txBox="1"/>
          <p:nvPr/>
        </p:nvSpPr>
        <p:spPr>
          <a:xfrm>
            <a:off x="226414" y="4282544"/>
            <a:ext cx="5105400" cy="255454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Global temperature anomalies have increased consistently over time. </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Climate change impacts continue to intensify. </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Pollution Growth produces the highest projected temperature outcomes. </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Aggressive Green policies result in the lowest projected warming levels. </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Forest sustainability remains the strongest environmental component. </a:t>
            </a:r>
          </a:p>
          <a:p>
            <a:pPr marL="285750" indent="-285750">
              <a:buFont typeface="Wingdings" panose="05000000000000000000" pitchFamily="2" charset="2"/>
              <a:buChar char="Ø"/>
            </a:pP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CDB78538-5AFF-99EB-685E-4E1C859EFDAE}"/>
              </a:ext>
            </a:extLst>
          </p:cNvPr>
          <p:cNvSpPr txBox="1"/>
          <p:nvPr/>
        </p:nvSpPr>
        <p:spPr>
          <a:xfrm>
            <a:off x="5867400" y="4229600"/>
            <a:ext cx="5651500" cy="255454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Environmental Health Index indicates moderate ecosystem health. </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Sustainability performance is currently classified as good. </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Random Forest achieved exceptional predictive performance with an R² score of approximately 0.99. </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Geographic visualization demonstrates the global nature of environmental challenges. </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Data-driven sustainability initiatives can significantly reduce future environmental risks. </a:t>
            </a:r>
          </a:p>
          <a:p>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91264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A5DF3-7905-890E-48EB-C00B63096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3A8F5-675B-419A-6FDF-AC0DE6CF64A5}"/>
              </a:ext>
            </a:extLst>
          </p:cNvPr>
          <p:cNvSpPr>
            <a:spLocks noGrp="1"/>
          </p:cNvSpPr>
          <p:nvPr>
            <p:ph type="title"/>
          </p:nvPr>
        </p:nvSpPr>
        <p:spPr>
          <a:xfrm>
            <a:off x="1502394" y="20911"/>
            <a:ext cx="5069006" cy="654994"/>
          </a:xfrm>
        </p:spPr>
        <p:txBody>
          <a:bodyPr>
            <a:normAutofit/>
          </a:bodyPr>
          <a:lstStyle/>
          <a:p>
            <a:r>
              <a:rPr lang="en-IN" sz="2400" b="1" dirty="0"/>
              <a:t>Week-6</a:t>
            </a:r>
            <a:r>
              <a:rPr lang="en-IN" sz="2400" b="1" u="sng" dirty="0"/>
              <a:t> </a:t>
            </a:r>
          </a:p>
        </p:txBody>
      </p:sp>
      <p:sp>
        <p:nvSpPr>
          <p:cNvPr id="4" name="TextBox 3">
            <a:extLst>
              <a:ext uri="{FF2B5EF4-FFF2-40B4-BE49-F238E27FC236}">
                <a16:creationId xmlns:a16="http://schemas.microsoft.com/office/drawing/2014/main" id="{10725C90-138F-CA42-903E-A86099CB7D78}"/>
              </a:ext>
            </a:extLst>
          </p:cNvPr>
          <p:cNvSpPr txBox="1"/>
          <p:nvPr/>
        </p:nvSpPr>
        <p:spPr>
          <a:xfrm>
            <a:off x="8165911" y="20911"/>
            <a:ext cx="2688608" cy="369332"/>
          </a:xfrm>
          <a:prstGeom prst="rect">
            <a:avLst/>
          </a:prstGeom>
          <a:noFill/>
        </p:spPr>
        <p:txBody>
          <a:bodyPr wrap="square" rtlCol="0">
            <a:spAutoFit/>
          </a:bodyPr>
          <a:lstStyle/>
          <a:p>
            <a:r>
              <a:rPr lang="en-US" b="1" u="sng" dirty="0"/>
              <a:t>Results/Visual Outputs</a:t>
            </a:r>
            <a:endParaRPr lang="en-IN" b="1" u="sng" dirty="0"/>
          </a:p>
        </p:txBody>
      </p:sp>
      <p:sp>
        <p:nvSpPr>
          <p:cNvPr id="3" name="TextBox 2">
            <a:extLst>
              <a:ext uri="{FF2B5EF4-FFF2-40B4-BE49-F238E27FC236}">
                <a16:creationId xmlns:a16="http://schemas.microsoft.com/office/drawing/2014/main" id="{5C8BD5BA-3F5F-0FB4-5700-F436AACBA0C9}"/>
              </a:ext>
            </a:extLst>
          </p:cNvPr>
          <p:cNvSpPr txBox="1"/>
          <p:nvPr/>
        </p:nvSpPr>
        <p:spPr>
          <a:xfrm>
            <a:off x="673100" y="675905"/>
            <a:ext cx="10414000" cy="5693866"/>
          </a:xfrm>
          <a:prstGeom prst="rect">
            <a:avLst/>
          </a:prstGeom>
          <a:noFill/>
        </p:spPr>
        <p:txBody>
          <a:bodyPr wrap="square" rtlCol="0">
            <a:spAutoFit/>
          </a:bodyPr>
          <a:lstStyle/>
          <a:p>
            <a:r>
              <a:rPr lang="en-US" sz="2200" b="1" u="sng" dirty="0">
                <a:latin typeface="Calibri" panose="020F0502020204030204" pitchFamily="34" charset="0"/>
                <a:ea typeface="Calibri" panose="020F0502020204030204" pitchFamily="34" charset="0"/>
                <a:cs typeface="Calibri" panose="020F0502020204030204" pitchFamily="34" charset="0"/>
              </a:rPr>
              <a:t>Conclusion :</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Week 6 successfully transformed the analytical outputs developed during Week 5 into a fully interactive Environmental Intelligence &amp; Sustainability Analytics Platform. </a:t>
            </a:r>
          </a:p>
          <a:p>
            <a:pPr marL="285750" indent="-28575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The completed solution integrates environmental monitoring, sustainability assessment, machine learning forecasting, scenario analysis, geographic visualization, and executive reporting within a unified Power BI environment. </a:t>
            </a:r>
          </a:p>
          <a:p>
            <a:pPr marL="285750" indent="-285750">
              <a:buFont typeface="Wingdings" panose="05000000000000000000" pitchFamily="2" charset="2"/>
              <a:buChar char="Ø"/>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 platform enables environmental stakeholders, policymakers, and sustainability managers to make informed, data-driven decisions through actionable insights and predictive analytics.</a:t>
            </a:r>
          </a:p>
          <a:p>
            <a:pPr marL="285750" indent="-28575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 project successfully transformed engineered datasets, predictive models, and scenario analysis into an integrated Business Intelligence platform. </a:t>
            </a:r>
          </a:p>
          <a:p>
            <a:pPr marL="285750" indent="-28575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completed dashboards enable interactive exploration of climate trends, environmental health indicators, sustainability metrics, geographic analysis, and predictive forecasting. </a:t>
            </a:r>
          </a:p>
          <a:p>
            <a:pPr marL="285750" indent="-28575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This solution demonstrates the practical application of data engineering, machine learning, and visualization techniques for executive decision support.  </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66564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D93B6-9505-A5C7-4E7E-AACC142E7132}"/>
              </a:ext>
            </a:extLst>
          </p:cNvPr>
          <p:cNvSpPr>
            <a:spLocks noGrp="1"/>
          </p:cNvSpPr>
          <p:nvPr>
            <p:ph type="title"/>
          </p:nvPr>
        </p:nvSpPr>
        <p:spPr>
          <a:xfrm>
            <a:off x="1346200" y="639315"/>
            <a:ext cx="8610600" cy="1293028"/>
          </a:xfrm>
        </p:spPr>
        <p:txBody>
          <a:bodyPr/>
          <a:lstStyle/>
          <a:p>
            <a:pPr algn="ctr"/>
            <a:r>
              <a:rPr lang="en-IN">
                <a:latin typeface="Aptos" panose="020B0004020202020204" pitchFamily="34" charset="0"/>
              </a:rPr>
              <a:t>Reference Links</a:t>
            </a:r>
            <a:endParaRPr lang="en-IN" dirty="0">
              <a:latin typeface="Aptos" panose="020B0004020202020204" pitchFamily="34" charset="0"/>
            </a:endParaRPr>
          </a:p>
        </p:txBody>
      </p:sp>
      <p:sp>
        <p:nvSpPr>
          <p:cNvPr id="3" name="Content Placeholder 2">
            <a:extLst>
              <a:ext uri="{FF2B5EF4-FFF2-40B4-BE49-F238E27FC236}">
                <a16:creationId xmlns:a16="http://schemas.microsoft.com/office/drawing/2014/main" id="{8B744127-5EA2-F975-C629-71B658E2E630}"/>
              </a:ext>
            </a:extLst>
          </p:cNvPr>
          <p:cNvSpPr>
            <a:spLocks noGrp="1"/>
          </p:cNvSpPr>
          <p:nvPr>
            <p:ph idx="1"/>
          </p:nvPr>
        </p:nvSpPr>
        <p:spPr/>
        <p:txBody>
          <a:bodyPr/>
          <a:lstStyle/>
          <a:p>
            <a:pPr marL="0" indent="0">
              <a:buNone/>
            </a:pPr>
            <a:r>
              <a:rPr lang="en-US" dirty="0" err="1"/>
              <a:t>Github</a:t>
            </a:r>
            <a:r>
              <a:rPr lang="en-US" dirty="0"/>
              <a:t> URL – </a:t>
            </a:r>
            <a:r>
              <a:rPr lang="en-US" dirty="0">
                <a:hlinkClick r:id="rId2"/>
              </a:rPr>
              <a:t>https://github.com/VahidaSS/CapstoneProject</a:t>
            </a:r>
            <a:endParaRPr lang="en-US" dirty="0"/>
          </a:p>
          <a:p>
            <a:pPr marL="0" indent="0">
              <a:buNone/>
            </a:pPr>
            <a:endParaRPr lang="en-US" dirty="0"/>
          </a:p>
          <a:p>
            <a:pPr marL="0" indent="0">
              <a:buNone/>
            </a:pPr>
            <a:r>
              <a:rPr lang="en-US" dirty="0"/>
              <a:t>Google Drive URL - </a:t>
            </a:r>
            <a:r>
              <a:rPr lang="en-US" dirty="0">
                <a:hlinkClick r:id="rId3"/>
              </a:rPr>
              <a:t>https://drive.google.com/drive/folders/15FRK8ErVL9vvUqc0ocuAngPXZdyHZ7h2?usp=sharing</a:t>
            </a: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1013012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1186-6C47-4872-52C0-16F367E39EFE}"/>
              </a:ext>
            </a:extLst>
          </p:cNvPr>
          <p:cNvSpPr>
            <a:spLocks noGrp="1"/>
          </p:cNvSpPr>
          <p:nvPr>
            <p:ph type="title"/>
          </p:nvPr>
        </p:nvSpPr>
        <p:spPr>
          <a:xfrm>
            <a:off x="1149350" y="2377273"/>
            <a:ext cx="8610600" cy="1293028"/>
          </a:xfrm>
        </p:spPr>
        <p:txBody>
          <a:bodyPr/>
          <a:lstStyle/>
          <a:p>
            <a:r>
              <a:rPr lang="en-IN" dirty="0"/>
              <a:t>Thank you</a:t>
            </a:r>
            <a:br>
              <a:rPr lang="en-IN" dirty="0"/>
            </a:br>
            <a:r>
              <a:rPr lang="en-IN" dirty="0"/>
              <a:t>Team-14 </a:t>
            </a:r>
          </a:p>
        </p:txBody>
      </p:sp>
    </p:spTree>
    <p:extLst>
      <p:ext uri="{BB962C8B-B14F-4D97-AF65-F5344CB8AC3E}">
        <p14:creationId xmlns:p14="http://schemas.microsoft.com/office/powerpoint/2010/main" val="736631192"/>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216</TotalTime>
  <Words>1659</Words>
  <Application>Microsoft Office PowerPoint</Application>
  <PresentationFormat>Widescreen</PresentationFormat>
  <Paragraphs>289</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Cambria</vt:lpstr>
      <vt:lpstr>Century Gothic</vt:lpstr>
      <vt:lpstr>Wingdings</vt:lpstr>
      <vt:lpstr>Vapor Trail</vt:lpstr>
      <vt:lpstr> Environmental Intelligence &amp; Sustainability Analytics Platform</vt:lpstr>
      <vt:lpstr>About Project </vt:lpstr>
      <vt:lpstr> </vt:lpstr>
      <vt:lpstr>Week-1 </vt:lpstr>
      <vt:lpstr>Week-2</vt:lpstr>
      <vt:lpstr>Week-2 </vt:lpstr>
      <vt:lpstr>Week-2 </vt:lpstr>
      <vt:lpstr>Week-3</vt:lpstr>
      <vt:lpstr>Week-3 </vt:lpstr>
      <vt:lpstr>Week-4</vt:lpstr>
      <vt:lpstr>Week-4 </vt:lpstr>
      <vt:lpstr>Week-4 </vt:lpstr>
      <vt:lpstr>Week-5</vt:lpstr>
      <vt:lpstr>Week-5 </vt:lpstr>
      <vt:lpstr>Week-5 </vt:lpstr>
      <vt:lpstr>Week-6</vt:lpstr>
      <vt:lpstr>Week-6 </vt:lpstr>
      <vt:lpstr>Week-6 </vt:lpstr>
      <vt:lpstr>Week-6 </vt:lpstr>
      <vt:lpstr>Week-6 </vt:lpstr>
      <vt:lpstr>Reference Links</vt:lpstr>
      <vt:lpstr>Thank you Team-14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Vahida Shaik</dc:creator>
  <cp:lastModifiedBy>Vahida Shaik</cp:lastModifiedBy>
  <cp:revision>158</cp:revision>
  <dcterms:created xsi:type="dcterms:W3CDTF">2026-07-11T17:45:37Z</dcterms:created>
  <dcterms:modified xsi:type="dcterms:W3CDTF">2026-07-12T16:46:51Z</dcterms:modified>
</cp:coreProperties>
</file>